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framing. This isn't new analysis, it's the readout of the three Week 4 breakouts run against our own Lab 1 map. Feeds straight into Board Memo §4 and slide S6.
Ask the room: does everyone still agree D2 and D3 are the right two targets from Lab 1? If someone tagged the map differently on their own, now's the time to say so, not after we submit.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walk it left to right. Only two diamonds matter this week: amber (Feasible?, D2) and purple (Recovery agreed?, D3). Everything else on the map is native system work or physical kitchen work, not a candidate for RPA or AI.
Point at the two red dashed loops on purpose. The rework loop (quality fail, back to exceptions) and the recovery loop (agrees to change, back to kitchen review) are where the cost actually piles up.
Have everyone pull up their own copy of the breakout doc and check they'd tag each step the same way. Catch mistagging now, not in front of the professor.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slide, give it ~3 min.
Don't just say D2 passes all three tests, walk through why: repetitive because of volume, rules-based because the freshness check is a clean yes/no, stable because Olo and Crunchtime don't change week to week. If someone asks about the quality gate, that's slide 4, not here.
For D3, make the judgment call concrete. Ask the room for a real case where two staff members would honestly pick different recoveries. If nobody can think of one, maybe D3 isn't actually a judgment step and we should say so, rather than just nodding along with the slide.
Open question for the group: does the $44 across 6 of 30 orders feel safe to cite to the professor as-is, or should we caveat it harder out loud? It's synthetic sandbox data, not anything measured at a real Sweetgreen.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What matters here isn't the three rejections themselves, it's that each one has its own real reason. That's what makes the scan credible instead of 'we picked two and moved on.'
Have an answer ready in case the professor presses on any of these: D1 needs the acceptance rule written down first, that's a Week 2 mapping problem, not ours to solve this week. The quality gate needs hardware we don't have in the default stack (vision, a scale). Stock accuracy is an Olo and Crunchtime sync issue, an integration fix, which is exactly what Week 2's obliterate-then-automate is warning us not to paper over with a 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Expect pushback on the ~10 hrs/day figure specifically, it's the weakest-sourced claim in the whole deck.
Be upfront about it: 300 orders per store per day is a number we made up to show the shape of the math, not something we found in a Sweetgreen filing. If someone asks for the real figure, the honest answer is we don't have it yet and this is a placeholder to validate before it goes to the board.
Does anyone have a better source for Sweetgreen's actual daily order volume per store, a 10-K, a job posting, anything? Swap it in before this reaches the professor. A real number here would do a lot for the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close. Before we wrap: who's setting up the Make account before Week 6? Not needed this week, but someone should own it. And who's responsible for swapping in a real order-volume number if we track one down?
Last check: any objections to submitting this scan as-is for Board Memo §4? If we're all good, this is done. If not, better to say so now than after the professor's already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1147"/>
        </a:solidFill>
      </p:bgPr>
    </p:bg>
    <p:spTree>
      <p:nvGrpSpPr>
        <p:cNvPr id="1" name=""/>
        <p:cNvGrpSpPr/>
        <p:nvPr/>
      </p:nvGrpSpPr>
      <p:grpSpPr>
        <a:xfrm>
          <a:off x="0" y="0"/>
          <a:ext cx="0" cy="0"/>
          <a:chOff x="0" y="0"/>
          <a:chExt cx="0" cy="0"/>
        </a:xfrm>
      </p:grpSpPr>
      <p:sp>
        <p:nvSpPr>
          <p:cNvPr id="2" name="Text 0"/>
          <p:cNvSpPr/>
          <p:nvPr/>
        </p:nvSpPr>
        <p:spPr>
          <a:xfrm>
            <a:off x="548640" y="1554480"/>
            <a:ext cx="9144000" cy="365760"/>
          </a:xfrm>
          <a:prstGeom prst="rect">
            <a:avLst/>
          </a:prstGeom>
          <a:noFill/>
          <a:ln/>
        </p:spPr>
        <p:txBody>
          <a:bodyPr wrap="square" rtlCol="0" anchor="ctr"/>
          <a:lstStyle/>
          <a:p>
            <a:pPr indent="0" marL="0">
              <a:buNone/>
            </a:pPr>
            <a:r>
              <a:rPr lang="en-US" sz="1300" b="1" spc="200" kern="0" dirty="0">
                <a:solidFill>
                  <a:srgbClr val="C4B5FD"/>
                </a:solidFill>
              </a:rPr>
              <a:t>MODULE 2  ·  THE AUTOMATION LADDER</a:t>
            </a:r>
            <a:endParaRPr lang="en-US" sz="1300" dirty="0"/>
          </a:p>
        </p:txBody>
      </p:sp>
      <p:sp>
        <p:nvSpPr>
          <p:cNvPr id="3" name="Text 1"/>
          <p:cNvSpPr/>
          <p:nvPr/>
        </p:nvSpPr>
        <p:spPr>
          <a:xfrm>
            <a:off x="548640" y="1920240"/>
            <a:ext cx="10515600" cy="1005840"/>
          </a:xfrm>
          <a:prstGeom prst="rect">
            <a:avLst/>
          </a:prstGeom>
          <a:noFill/>
          <a:ln/>
        </p:spPr>
        <p:txBody>
          <a:bodyPr wrap="square" rtlCol="0" anchor="ctr"/>
          <a:lstStyle/>
          <a:p>
            <a:pPr indent="0" marL="0">
              <a:buNone/>
            </a:pPr>
            <a:r>
              <a:rPr lang="en-US" sz="4000" b="1" dirty="0">
                <a:solidFill>
                  <a:srgbClr val="FFFFFF"/>
                </a:solidFill>
              </a:rPr>
              <a:t>Sweetgreen: RPA-Candidate Scan</a:t>
            </a:r>
            <a:endParaRPr lang="en-US" sz="4000" dirty="0"/>
          </a:p>
        </p:txBody>
      </p:sp>
      <p:sp>
        <p:nvSpPr>
          <p:cNvPr id="4" name="Shape 2"/>
          <p:cNvSpPr/>
          <p:nvPr/>
        </p:nvSpPr>
        <p:spPr>
          <a:xfrm>
            <a:off x="548640" y="3063240"/>
            <a:ext cx="2286000" cy="0"/>
          </a:xfrm>
          <a:prstGeom prst="line">
            <a:avLst/>
          </a:prstGeom>
          <a:noFill/>
          <a:ln w="38100">
            <a:solidFill>
              <a:srgbClr val="7E22CE"/>
            </a:solidFill>
            <a:prstDash val="solid"/>
          </a:ln>
        </p:spPr>
      </p:sp>
      <p:sp>
        <p:nvSpPr>
          <p:cNvPr id="5" name="Text 3"/>
          <p:cNvSpPr/>
          <p:nvPr/>
        </p:nvSpPr>
        <p:spPr>
          <a:xfrm>
            <a:off x="548640" y="3246120"/>
            <a:ext cx="9601200" cy="548640"/>
          </a:xfrm>
          <a:prstGeom prst="rect">
            <a:avLst/>
          </a:prstGeom>
          <a:noFill/>
          <a:ln/>
        </p:spPr>
        <p:txBody>
          <a:bodyPr wrap="square" rtlCol="0" anchor="ctr"/>
          <a:lstStyle/>
          <a:p>
            <a:pPr indent="0" marL="0">
              <a:buNone/>
            </a:pPr>
            <a:r>
              <a:rPr lang="en-US" sz="1600" dirty="0">
                <a:solidFill>
                  <a:srgbClr val="DDD6FE"/>
                </a:solidFill>
              </a:rPr>
              <a:t>Automate the rule, route the exception: where a bot belongs on Sweetgreen's order-and-payment flow</a:t>
            </a:r>
            <a:endParaRPr lang="en-US" sz="1600" dirty="0"/>
          </a:p>
        </p:txBody>
      </p:sp>
      <p:sp>
        <p:nvSpPr>
          <p:cNvPr id="6" name="Text 4"/>
          <p:cNvSpPr/>
          <p:nvPr/>
        </p:nvSpPr>
        <p:spPr>
          <a:xfrm>
            <a:off x="548640" y="4206240"/>
            <a:ext cx="7315200" cy="274320"/>
          </a:xfrm>
          <a:prstGeom prst="rect">
            <a:avLst/>
          </a:prstGeom>
          <a:noFill/>
          <a:ln/>
        </p:spPr>
        <p:txBody>
          <a:bodyPr wrap="square" rtlCol="0" anchor="ctr"/>
          <a:lstStyle/>
          <a:p>
            <a:pPr indent="0" marL="0">
              <a:buNone/>
            </a:pPr>
            <a:r>
              <a:rPr lang="en-US" sz="1200" b="1" dirty="0">
                <a:solidFill>
                  <a:srgbClr val="FFFFFF"/>
                </a:solidFill>
              </a:rPr>
              <a:t>IE-GY 9113B · Systems Integration: From ERP to Agentic AI</a:t>
            </a:r>
            <a:endParaRPr lang="en-US" sz="1200" dirty="0"/>
          </a:p>
        </p:txBody>
      </p:sp>
      <p:sp>
        <p:nvSpPr>
          <p:cNvPr id="7" name="Text 5"/>
          <p:cNvSpPr/>
          <p:nvPr/>
        </p:nvSpPr>
        <p:spPr>
          <a:xfrm>
            <a:off x="548640" y="4480560"/>
            <a:ext cx="8229600" cy="274320"/>
          </a:xfrm>
          <a:prstGeom prst="rect">
            <a:avLst/>
          </a:prstGeom>
          <a:noFill/>
          <a:ln/>
        </p:spPr>
        <p:txBody>
          <a:bodyPr wrap="square" rtlCol="0" anchor="ctr"/>
          <a:lstStyle/>
          <a:p>
            <a:pPr indent="0" marL="0">
              <a:buNone/>
            </a:pPr>
            <a:r>
              <a:rPr lang="en-US" sz="1100" dirty="0">
                <a:solidFill>
                  <a:srgbClr val="C4B5FD"/>
                </a:solidFill>
              </a:rPr>
              <a:t>Week 4 · Board Memo §4 (Automation Journey) · Storyboard S6 · Milestone 1: Diagnose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100" b="1" spc="150" kern="0" dirty="0">
                <a:solidFill>
                  <a:srgbClr val="7E22CE"/>
                </a:solidFill>
              </a:rPr>
              <a:t>BREAKOUT 1  ·  THE MAP, TAGGED END TO END</a:t>
            </a:r>
            <a:endParaRPr lang="en-US" sz="1100" dirty="0"/>
          </a:p>
        </p:txBody>
      </p:sp>
      <p:sp>
        <p:nvSpPr>
          <p:cNvPr id="3" name="Text 1"/>
          <p:cNvSpPr/>
          <p:nvPr/>
        </p:nvSpPr>
        <p:spPr>
          <a:xfrm>
            <a:off x="457200" y="566928"/>
            <a:ext cx="10058400" cy="502920"/>
          </a:xfrm>
          <a:prstGeom prst="rect">
            <a:avLst/>
          </a:prstGeom>
          <a:noFill/>
          <a:ln/>
        </p:spPr>
        <p:txBody>
          <a:bodyPr wrap="square" rtlCol="0" anchor="ctr"/>
          <a:lstStyle/>
          <a:p>
            <a:pPr indent="0" marL="0">
              <a:buNone/>
            </a:pPr>
            <a:r>
              <a:rPr lang="en-US" sz="2600" b="1" dirty="0">
                <a:solidFill>
                  <a:srgbClr val="0F172A"/>
                </a:solidFill>
              </a:rPr>
              <a:t>Where each step actually belongs</a:t>
            </a:r>
            <a:endParaRPr lang="en-US" sz="2600" dirty="0"/>
          </a:p>
        </p:txBody>
      </p:sp>
      <p:pic>
        <p:nvPicPr>
          <p:cNvPr id="4" name="Image 0" descr="/Users/salauatkakimzanov/Desktop/Uni/ERP-to-Agentic/wiki/project/shared/diagrams/assets/Order-and-Payment-Swimlane.png">    </p:cNvPr>
          <p:cNvPicPr>
            <a:picLocks noChangeAspect="1"/>
          </p:cNvPicPr>
          <p:nvPr/>
        </p:nvPicPr>
        <p:blipFill>
          <a:blip r:embed="rId1"/>
          <a:stretch>
            <a:fillRect/>
          </a:stretch>
        </p:blipFill>
        <p:spPr>
          <a:xfrm>
            <a:off x="457200" y="1234440"/>
            <a:ext cx="11274552" cy="5394960"/>
          </a:xfrm>
          <a:prstGeom prst="rect">
            <a:avLst/>
          </a:prstGeom>
        </p:spPr>
      </p:pic>
      <p:sp>
        <p:nvSpPr>
          <p:cNvPr id="5" name="Text 2"/>
          <p:cNvSpPr/>
          <p:nvPr/>
        </p:nvSpPr>
        <p:spPr>
          <a:xfrm>
            <a:off x="4023360" y="6537960"/>
            <a:ext cx="4114800" cy="274320"/>
          </a:xfrm>
          <a:prstGeom prst="rect">
            <a:avLst/>
          </a:prstGeom>
          <a:noFill/>
          <a:ln/>
        </p:spPr>
        <p:txBody>
          <a:bodyPr wrap="square" rtlCol="0" anchor="ctr"/>
          <a:lstStyle/>
          <a:p>
            <a:pPr algn="ctr" indent="0" marL="0">
              <a:buNone/>
            </a:pPr>
            <a:r>
              <a:rPr lang="en-US" sz="900" dirty="0">
                <a:solidFill>
                  <a:srgbClr val="64748B"/>
                </a:solidFill>
              </a:rPr>
              <a:t>IE-GY 9113B  ·  Systems Integration  ·  Week 4</a:t>
            </a:r>
            <a:endParaRPr lang="en-US" sz="900" dirty="0"/>
          </a:p>
        </p:txBody>
      </p:sp>
      <p:sp>
        <p:nvSpPr>
          <p:cNvPr id="6" name="Text 3"/>
          <p:cNvSpPr/>
          <p:nvPr/>
        </p:nvSpPr>
        <p:spPr>
          <a:xfrm>
            <a:off x="11612880" y="6537960"/>
            <a:ext cx="457200" cy="274320"/>
          </a:xfrm>
          <a:prstGeom prst="rect">
            <a:avLst/>
          </a:prstGeom>
          <a:noFill/>
          <a:ln/>
        </p:spPr>
        <p:txBody>
          <a:bodyPr wrap="square" rtlCol="0" anchor="ctr"/>
          <a:lstStyle/>
          <a:p>
            <a:pPr algn="r" indent="0" marL="0">
              <a:buNone/>
            </a:pPr>
            <a:r>
              <a:rPr lang="en-US" sz="900" dirty="0">
                <a:solidFill>
                  <a:srgbClr val="64748B"/>
                </a:solidFill>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100" b="1" spc="150" kern="0" dirty="0">
                <a:solidFill>
                  <a:srgbClr val="7E22CE"/>
                </a:solidFill>
              </a:rPr>
              <a:t>BREAKOUT 2  ·  RUN THE THREE TESTS</a:t>
            </a:r>
            <a:endParaRPr lang="en-US" sz="1100" dirty="0"/>
          </a:p>
        </p:txBody>
      </p:sp>
      <p:sp>
        <p:nvSpPr>
          <p:cNvPr id="3" name="Text 1"/>
          <p:cNvSpPr/>
          <p:nvPr/>
        </p:nvSpPr>
        <p:spPr>
          <a:xfrm>
            <a:off x="457200" y="566928"/>
            <a:ext cx="10058400" cy="502920"/>
          </a:xfrm>
          <a:prstGeom prst="rect">
            <a:avLst/>
          </a:prstGeom>
          <a:noFill/>
          <a:ln/>
        </p:spPr>
        <p:txBody>
          <a:bodyPr wrap="square" rtlCol="0" anchor="ctr"/>
          <a:lstStyle/>
          <a:p>
            <a:pPr indent="0" marL="0">
              <a:buNone/>
            </a:pPr>
            <a:r>
              <a:rPr lang="en-US" sz="2600" b="1" dirty="0">
                <a:solidFill>
                  <a:srgbClr val="0F172A"/>
                </a:solidFill>
              </a:rPr>
              <a:t>Two candidates, two tools</a:t>
            </a:r>
            <a:endParaRPr lang="en-US" sz="2600" dirty="0"/>
          </a:p>
        </p:txBody>
      </p:sp>
      <p:sp>
        <p:nvSpPr>
          <p:cNvPr id="4" name="Text 2"/>
          <p:cNvSpPr/>
          <p:nvPr/>
        </p:nvSpPr>
        <p:spPr>
          <a:xfrm>
            <a:off x="457200" y="1078992"/>
            <a:ext cx="10972800" cy="365760"/>
          </a:xfrm>
          <a:prstGeom prst="rect">
            <a:avLst/>
          </a:prstGeom>
          <a:noFill/>
          <a:ln/>
        </p:spPr>
        <p:txBody>
          <a:bodyPr wrap="square" rtlCol="0" anchor="ctr"/>
          <a:lstStyle/>
          <a:p>
            <a:pPr indent="0" marL="0">
              <a:buNone/>
            </a:pPr>
            <a:r>
              <a:rPr lang="en-US" sz="1250" dirty="0">
                <a:solidFill>
                  <a:srgbClr val="334155"/>
                </a:solidFill>
              </a:rPr>
              <a:t>Repetitive + rules-based + stable, or it isn't a candidate. Both of Sweetgreen's diagnostic points from Lab 1 pass, into different tools.</a:t>
            </a:r>
            <a:endParaRPr lang="en-US" sz="1250" dirty="0"/>
          </a:p>
        </p:txBody>
      </p:sp>
      <p:sp>
        <p:nvSpPr>
          <p:cNvPr id="5" name="Shape 3"/>
          <p:cNvSpPr/>
          <p:nvPr/>
        </p:nvSpPr>
        <p:spPr>
          <a:xfrm>
            <a:off x="457200" y="1600200"/>
            <a:ext cx="5394960" cy="4572000"/>
          </a:xfrm>
          <a:prstGeom prst="roundRect">
            <a:avLst>
              <a:gd name="adj" fmla="val 1200"/>
            </a:avLst>
          </a:prstGeom>
          <a:solidFill>
            <a:srgbClr val="FFF3D6"/>
          </a:solidFill>
          <a:ln w="6350">
            <a:solidFill>
              <a:srgbClr val="E2E8F0"/>
            </a:solidFill>
            <a:prstDash val="solid"/>
          </a:ln>
        </p:spPr>
      </p:sp>
      <p:sp>
        <p:nvSpPr>
          <p:cNvPr id="6" name="Text 4"/>
          <p:cNvSpPr/>
          <p:nvPr/>
        </p:nvSpPr>
        <p:spPr>
          <a:xfrm>
            <a:off x="658368" y="1764792"/>
            <a:ext cx="4992624" cy="292608"/>
          </a:xfrm>
          <a:prstGeom prst="rect">
            <a:avLst/>
          </a:prstGeom>
          <a:noFill/>
          <a:ln/>
        </p:spPr>
        <p:txBody>
          <a:bodyPr wrap="square" rtlCol="0" anchor="ctr"/>
          <a:lstStyle/>
          <a:p>
            <a:pPr indent="0" marL="0">
              <a:buNone/>
            </a:pPr>
            <a:r>
              <a:rPr lang="en-US" sz="1400" b="1" dirty="0">
                <a:solidFill>
                  <a:srgbClr val="B7791F"/>
                </a:solidFill>
              </a:rPr>
              <a:t>D2 — Feasible? (live vs. cached availability)</a:t>
            </a:r>
            <a:endParaRPr lang="en-US" sz="1400" dirty="0"/>
          </a:p>
        </p:txBody>
      </p:sp>
      <p:sp>
        <p:nvSpPr>
          <p:cNvPr id="7" name="Text 5"/>
          <p:cNvSpPr/>
          <p:nvPr/>
        </p:nvSpPr>
        <p:spPr>
          <a:xfrm>
            <a:off x="658368" y="2075688"/>
            <a:ext cx="4992624" cy="237744"/>
          </a:xfrm>
          <a:prstGeom prst="rect">
            <a:avLst/>
          </a:prstGeom>
          <a:noFill/>
          <a:ln/>
        </p:spPr>
        <p:txBody>
          <a:bodyPr wrap="square" rtlCol="0" anchor="ctr"/>
          <a:lstStyle/>
          <a:p>
            <a:pPr indent="0" marL="0">
              <a:buNone/>
            </a:pPr>
            <a:r>
              <a:rPr lang="en-US" sz="1100" b="1" dirty="0">
                <a:solidFill>
                  <a:srgbClr val="334155"/>
                </a:solidFill>
              </a:rPr>
              <a:t>→ RPA · Lab 2 (Make)</a:t>
            </a:r>
            <a:endParaRPr lang="en-US" sz="1100" dirty="0"/>
          </a:p>
        </p:txBody>
      </p:sp>
      <p:sp>
        <p:nvSpPr>
          <p:cNvPr id="8" name="Text 6"/>
          <p:cNvSpPr/>
          <p:nvPr/>
        </p:nvSpPr>
        <p:spPr>
          <a:xfrm>
            <a:off x="658368" y="2331720"/>
            <a:ext cx="4992624" cy="3703320"/>
          </a:xfrm>
          <a:prstGeom prst="rect">
            <a:avLst/>
          </a:prstGeom>
          <a:noFill/>
          <a:ln/>
        </p:spPr>
        <p:txBody>
          <a:bodyPr wrap="square" rtlCol="0" anchor="t"/>
          <a:lstStyle/>
          <a:p>
            <a:pPr marL="177800" indent="-177800">
              <a:lnSpc>
                <a:spcPct val="112000"/>
              </a:lnSpc>
              <a:spcAft>
                <a:spcPts val="600"/>
              </a:spcAft>
              <a:buSzPct val="100000"/>
              <a:buChar char="•"/>
            </a:pPr>
            <a:r>
              <a:rPr lang="en-US" sz="1000" dirty="0">
                <a:solidFill>
                  <a:srgbClr val="334155"/>
                </a:solidFill>
              </a:rPr>
              <a:t>Repetitive: every order passes through it</a:t>
            </a:r>
            <a:endParaRPr lang="en-US" sz="1000" dirty="0"/>
          </a:p>
          <a:p>
            <a:pPr marL="177800" indent="-177800">
              <a:lnSpc>
                <a:spcPct val="112000"/>
              </a:lnSpc>
              <a:spcAft>
                <a:spcPts val="600"/>
              </a:spcAft>
              <a:buSzPct val="100000"/>
              <a:buChar char="•"/>
            </a:pPr>
            <a:r>
              <a:rPr lang="en-US" sz="1000" dirty="0">
                <a:solidFill>
                  <a:srgbClr val="334155"/>
                </a:solidFill>
              </a:rPr>
              <a:t>Rules-based: approve when live and cached availability agree and the customization is supported, else hold (complete once the freshness gate is folded in)</a:t>
            </a:r>
            <a:endParaRPr lang="en-US" sz="1000" dirty="0"/>
          </a:p>
          <a:p>
            <a:pPr marL="177800" indent="-177800">
              <a:lnSpc>
                <a:spcPct val="112000"/>
              </a:lnSpc>
              <a:spcAft>
                <a:spcPts val="600"/>
              </a:spcAft>
              <a:buSzPct val="100000"/>
              <a:buChar char="•"/>
            </a:pPr>
            <a:r>
              <a:rPr lang="en-US" sz="1000" dirty="0">
                <a:solidFill>
                  <a:srgbClr val="334155"/>
                </a:solidFill>
              </a:rPr>
              <a:t>Stable: the rule and its two source systems (Olo, Crunchtime) rarely change</a:t>
            </a:r>
            <a:endParaRPr lang="en-US" sz="1000" dirty="0"/>
          </a:p>
          <a:p>
            <a:pPr marL="177800" indent="-177800">
              <a:lnSpc>
                <a:spcPct val="112000"/>
              </a:lnSpc>
              <a:spcAft>
                <a:spcPts val="600"/>
              </a:spcAft>
              <a:buSzPct val="100000"/>
              <a:buChar char="•"/>
            </a:pPr>
            <a:r>
              <a:rPr lang="en-US" sz="1000" dirty="0">
                <a:solidFill>
                  <a:srgbClr val="334155"/>
                </a:solidFill>
              </a:rPr>
              <a:t>Thread: Operations primarily, also Cash and Customer</a:t>
            </a:r>
            <a:endParaRPr lang="en-US" sz="1000" dirty="0"/>
          </a:p>
          <a:p>
            <a:pPr marL="177800" indent="-177800">
              <a:lnSpc>
                <a:spcPct val="112000"/>
              </a:lnSpc>
              <a:spcAft>
                <a:spcPts val="600"/>
              </a:spcAft>
              <a:buSzPct val="100000"/>
              <a:buChar char="•"/>
            </a:pPr>
            <a:r>
              <a:rPr lang="en-US" sz="1000" dirty="0">
                <a:solidFill>
                  <a:srgbClr val="334155"/>
                </a:solidFill>
              </a:rPr>
              <a:t>Prize: 6 of 30 synthetic orders (20%) hit the mismatch, $44 modeled exposure, 18.7 min late on average</a:t>
            </a:r>
            <a:endParaRPr lang="en-US" sz="1000" dirty="0"/>
          </a:p>
          <a:p>
            <a:pPr marL="177800" indent="-177800">
              <a:lnSpc>
                <a:spcPct val="112000"/>
              </a:lnSpc>
              <a:spcAft>
                <a:spcPts val="600"/>
              </a:spcAft>
              <a:buSzPct val="100000"/>
              <a:buChar char="•"/>
            </a:pPr>
            <a:r>
              <a:rPr lang="en-US" sz="1000" dirty="0">
                <a:solidFill>
                  <a:srgbClr val="334155"/>
                </a:solidFill>
              </a:rPr>
              <a:t>Unattended on the routine path; human stays at the exception queue, every time the gate disagrees</a:t>
            </a:r>
            <a:endParaRPr lang="en-US" sz="1000" dirty="0"/>
          </a:p>
        </p:txBody>
      </p:sp>
      <p:sp>
        <p:nvSpPr>
          <p:cNvPr id="9" name="Shape 7"/>
          <p:cNvSpPr/>
          <p:nvPr/>
        </p:nvSpPr>
        <p:spPr>
          <a:xfrm>
            <a:off x="6126480" y="1600200"/>
            <a:ext cx="5577840" cy="4572000"/>
          </a:xfrm>
          <a:prstGeom prst="roundRect">
            <a:avLst>
              <a:gd name="adj" fmla="val 1200"/>
            </a:avLst>
          </a:prstGeom>
          <a:solidFill>
            <a:srgbClr val="F3E8FF"/>
          </a:solidFill>
          <a:ln w="6350">
            <a:solidFill>
              <a:srgbClr val="E2E8F0"/>
            </a:solidFill>
            <a:prstDash val="solid"/>
          </a:ln>
        </p:spPr>
      </p:sp>
      <p:sp>
        <p:nvSpPr>
          <p:cNvPr id="10" name="Text 8"/>
          <p:cNvSpPr/>
          <p:nvPr/>
        </p:nvSpPr>
        <p:spPr>
          <a:xfrm>
            <a:off x="6327648" y="1764792"/>
            <a:ext cx="5175504" cy="292608"/>
          </a:xfrm>
          <a:prstGeom prst="rect">
            <a:avLst/>
          </a:prstGeom>
          <a:noFill/>
          <a:ln/>
        </p:spPr>
        <p:txBody>
          <a:bodyPr wrap="square" rtlCol="0" anchor="ctr"/>
          <a:lstStyle/>
          <a:p>
            <a:pPr indent="0" marL="0">
              <a:buNone/>
            </a:pPr>
            <a:r>
              <a:rPr lang="en-US" sz="1400" b="1" dirty="0">
                <a:solidFill>
                  <a:srgbClr val="7E22CE"/>
                </a:solidFill>
              </a:rPr>
              <a:t>D3 — Recovery agreed? (staff assess options)</a:t>
            </a:r>
            <a:endParaRPr lang="en-US" sz="1400" dirty="0"/>
          </a:p>
        </p:txBody>
      </p:sp>
      <p:sp>
        <p:nvSpPr>
          <p:cNvPr id="11" name="Text 9"/>
          <p:cNvSpPr/>
          <p:nvPr/>
        </p:nvSpPr>
        <p:spPr>
          <a:xfrm>
            <a:off x="6327648" y="2075688"/>
            <a:ext cx="5175504" cy="237744"/>
          </a:xfrm>
          <a:prstGeom prst="rect">
            <a:avLst/>
          </a:prstGeom>
          <a:noFill/>
          <a:ln/>
        </p:spPr>
        <p:txBody>
          <a:bodyPr wrap="square" rtlCol="0" anchor="ctr"/>
          <a:lstStyle/>
          <a:p>
            <a:pPr indent="0" marL="0">
              <a:buNone/>
            </a:pPr>
            <a:r>
              <a:rPr lang="en-US" sz="1100" b="1" dirty="0">
                <a:solidFill>
                  <a:srgbClr val="334155"/>
                </a:solidFill>
              </a:rPr>
              <a:t>→ AI agent · Lab 3, Week 9</a:t>
            </a:r>
            <a:endParaRPr lang="en-US" sz="1100" dirty="0"/>
          </a:p>
        </p:txBody>
      </p:sp>
      <p:sp>
        <p:nvSpPr>
          <p:cNvPr id="12" name="Text 10"/>
          <p:cNvSpPr/>
          <p:nvPr/>
        </p:nvSpPr>
        <p:spPr>
          <a:xfrm>
            <a:off x="6327648" y="2331720"/>
            <a:ext cx="5175504" cy="3703320"/>
          </a:xfrm>
          <a:prstGeom prst="rect">
            <a:avLst/>
          </a:prstGeom>
          <a:noFill/>
          <a:ln/>
        </p:spPr>
        <p:txBody>
          <a:bodyPr wrap="square" rtlCol="0" anchor="t"/>
          <a:lstStyle/>
          <a:p>
            <a:pPr marL="177800" indent="-177800">
              <a:lnSpc>
                <a:spcPct val="112000"/>
              </a:lnSpc>
              <a:spcAft>
                <a:spcPts val="600"/>
              </a:spcAft>
              <a:buSzPct val="100000"/>
              <a:buChar char="•"/>
            </a:pPr>
            <a:r>
              <a:rPr lang="en-US" sz="1000" dirty="0">
                <a:solidFill>
                  <a:srgbClr val="334155"/>
                </a:solidFill>
              </a:rPr>
              <a:t>Repetitive: every exception reaches it</a:t>
            </a:r>
            <a:endParaRPr lang="en-US" sz="1000" dirty="0"/>
          </a:p>
          <a:p>
            <a:pPr marL="177800" indent="-177800">
              <a:lnSpc>
                <a:spcPct val="112000"/>
              </a:lnSpc>
              <a:spcAft>
                <a:spcPts val="600"/>
              </a:spcAft>
              <a:buSzPct val="100000"/>
              <a:buChar char="•"/>
            </a:pPr>
            <a:r>
              <a:rPr lang="en-US" sz="1000" dirty="0">
                <a:solidFill>
                  <a:srgbClr val="334155"/>
                </a:solidFill>
              </a:rPr>
              <a:t>Rules-based: no. Two reasonable staff members could offer different resolutions, depending on urgency, prep ETA, and consent</a:t>
            </a:r>
            <a:endParaRPr lang="en-US" sz="1000" dirty="0"/>
          </a:p>
          <a:p>
            <a:pPr marL="177800" indent="-177800">
              <a:lnSpc>
                <a:spcPct val="112000"/>
              </a:lnSpc>
              <a:spcAft>
                <a:spcPts val="600"/>
              </a:spcAft>
              <a:buSzPct val="100000"/>
              <a:buChar char="•"/>
            </a:pPr>
            <a:r>
              <a:rPr lang="en-US" sz="1000" dirty="0">
                <a:solidFill>
                  <a:srgbClr val="334155"/>
                </a:solidFill>
              </a:rPr>
              <a:t>This is the judgment step: an assistant can recommend a recovery option for manager review, but can't make the customer's choice</a:t>
            </a:r>
            <a:endParaRPr lang="en-US" sz="1000" dirty="0"/>
          </a:p>
          <a:p>
            <a:pPr marL="177800" indent="-177800">
              <a:lnSpc>
                <a:spcPct val="112000"/>
              </a:lnSpc>
              <a:spcAft>
                <a:spcPts val="600"/>
              </a:spcAft>
              <a:buSzPct val="100000"/>
              <a:buChar char="•"/>
            </a:pPr>
            <a:r>
              <a:rPr lang="en-US" sz="1000" dirty="0">
                <a:solidFill>
                  <a:srgbClr val="334155"/>
                </a:solidFill>
              </a:rPr>
              <a:t>Not this week's build target. Previewed now, built in Lab 3 once intelligent automation (Week 7) and agent design (Week 8) are covered</a:t>
            </a:r>
            <a:endParaRPr lang="en-US" sz="1000" dirty="0"/>
          </a:p>
        </p:txBody>
      </p:sp>
      <p:sp>
        <p:nvSpPr>
          <p:cNvPr id="13" name="Text 11"/>
          <p:cNvSpPr/>
          <p:nvPr/>
        </p:nvSpPr>
        <p:spPr>
          <a:xfrm>
            <a:off x="4023360" y="6537960"/>
            <a:ext cx="4114800" cy="274320"/>
          </a:xfrm>
          <a:prstGeom prst="rect">
            <a:avLst/>
          </a:prstGeom>
          <a:noFill/>
          <a:ln/>
        </p:spPr>
        <p:txBody>
          <a:bodyPr wrap="square" rtlCol="0" anchor="ctr"/>
          <a:lstStyle/>
          <a:p>
            <a:pPr algn="ctr" indent="0" marL="0">
              <a:buNone/>
            </a:pPr>
            <a:r>
              <a:rPr lang="en-US" sz="900" dirty="0">
                <a:solidFill>
                  <a:srgbClr val="64748B"/>
                </a:solidFill>
              </a:rPr>
              <a:t>IE-GY 9113B  ·  Systems Integration  ·  Week 4</a:t>
            </a:r>
            <a:endParaRPr lang="en-US" sz="900" dirty="0"/>
          </a:p>
        </p:txBody>
      </p:sp>
      <p:sp>
        <p:nvSpPr>
          <p:cNvPr id="14" name="Text 12"/>
          <p:cNvSpPr/>
          <p:nvPr/>
        </p:nvSpPr>
        <p:spPr>
          <a:xfrm>
            <a:off x="11612880" y="6537960"/>
            <a:ext cx="457200" cy="274320"/>
          </a:xfrm>
          <a:prstGeom prst="rect">
            <a:avLst/>
          </a:prstGeom>
          <a:noFill/>
          <a:ln/>
        </p:spPr>
        <p:txBody>
          <a:bodyPr wrap="square" rtlCol="0" anchor="ctr"/>
          <a:lstStyle/>
          <a:p>
            <a:pPr algn="r" indent="0" marL="0">
              <a:buNone/>
            </a:pPr>
            <a:r>
              <a:rPr lang="en-US" sz="900" dirty="0">
                <a:solidFill>
                  <a:srgbClr val="64748B"/>
                </a:solidFill>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100" b="1" spc="150" kern="0" dirty="0">
                <a:solidFill>
                  <a:srgbClr val="7E22CE"/>
                </a:solidFill>
              </a:rPr>
              <a:t>HONEST REJECTIONS</a:t>
            </a:r>
            <a:endParaRPr lang="en-US" sz="1100" dirty="0"/>
          </a:p>
        </p:txBody>
      </p:sp>
      <p:sp>
        <p:nvSpPr>
          <p:cNvPr id="3" name="Text 1"/>
          <p:cNvSpPr/>
          <p:nvPr/>
        </p:nvSpPr>
        <p:spPr>
          <a:xfrm>
            <a:off x="457200" y="566928"/>
            <a:ext cx="10058400" cy="502920"/>
          </a:xfrm>
          <a:prstGeom prst="rect">
            <a:avLst/>
          </a:prstGeom>
          <a:noFill/>
          <a:ln/>
        </p:spPr>
        <p:txBody>
          <a:bodyPr wrap="square" rtlCol="0" anchor="ctr"/>
          <a:lstStyle/>
          <a:p>
            <a:pPr indent="0" marL="0">
              <a:buNone/>
            </a:pPr>
            <a:r>
              <a:rPr lang="en-US" sz="2600" b="1" dirty="0">
                <a:solidFill>
                  <a:srgbClr val="0F172A"/>
                </a:solidFill>
              </a:rPr>
              <a:t>What we rejected, and why</a:t>
            </a:r>
            <a:endParaRPr lang="en-US" sz="2600" dirty="0"/>
          </a:p>
        </p:txBody>
      </p:sp>
      <p:sp>
        <p:nvSpPr>
          <p:cNvPr id="4" name="Text 2"/>
          <p:cNvSpPr/>
          <p:nvPr/>
        </p:nvSpPr>
        <p:spPr>
          <a:xfrm>
            <a:off x="457200" y="1078992"/>
            <a:ext cx="10972800" cy="365760"/>
          </a:xfrm>
          <a:prstGeom prst="rect">
            <a:avLst/>
          </a:prstGeom>
          <a:noFill/>
          <a:ln/>
        </p:spPr>
        <p:txBody>
          <a:bodyPr wrap="square" rtlCol="0" anchor="ctr"/>
          <a:lstStyle/>
          <a:p>
            <a:pPr indent="0" marL="0">
              <a:buNone/>
            </a:pPr>
            <a:r>
              <a:rPr lang="en-US" sz="1250" dirty="0">
                <a:solidFill>
                  <a:srgbClr val="334155"/>
                </a:solidFill>
              </a:rPr>
              <a:t>A scan that only says yes hasn't done the diagnostic work. Three steps, three different reasons to say no.</a:t>
            </a:r>
            <a:endParaRPr lang="en-US" sz="1250" dirty="0"/>
          </a:p>
        </p:txBody>
      </p:sp>
      <p:sp>
        <p:nvSpPr>
          <p:cNvPr id="5" name="Shape 3"/>
          <p:cNvSpPr/>
          <p:nvPr/>
        </p:nvSpPr>
        <p:spPr>
          <a:xfrm>
            <a:off x="457200" y="1691640"/>
            <a:ext cx="11274552" cy="1417320"/>
          </a:xfrm>
          <a:prstGeom prst="roundRect">
            <a:avLst>
              <a:gd name="adj" fmla="val 3226"/>
            </a:avLst>
          </a:prstGeom>
          <a:solidFill>
            <a:srgbClr val="FDE8E8"/>
          </a:solidFill>
          <a:ln w="6350">
            <a:solidFill>
              <a:srgbClr val="F1B5B5"/>
            </a:solidFill>
            <a:prstDash val="solid"/>
          </a:ln>
        </p:spPr>
      </p:sp>
      <p:sp>
        <p:nvSpPr>
          <p:cNvPr id="6" name="Text 4"/>
          <p:cNvSpPr/>
          <p:nvPr/>
        </p:nvSpPr>
        <p:spPr>
          <a:xfrm>
            <a:off x="731520" y="1828800"/>
            <a:ext cx="10698480" cy="320040"/>
          </a:xfrm>
          <a:prstGeom prst="rect">
            <a:avLst/>
          </a:prstGeom>
          <a:noFill/>
          <a:ln/>
        </p:spPr>
        <p:txBody>
          <a:bodyPr wrap="square" rtlCol="0" anchor="ctr"/>
          <a:lstStyle/>
          <a:p>
            <a:pPr indent="0" marL="0">
              <a:buNone/>
            </a:pPr>
            <a:r>
              <a:rPr lang="en-US" sz="1350" b="1" dirty="0">
                <a:solidFill>
                  <a:srgbClr val="B91C1C"/>
                </a:solidFill>
              </a:rPr>
              <a:t>D1 — Order acceptance beyond payment</a:t>
            </a:r>
            <a:endParaRPr lang="en-US" sz="1350" dirty="0"/>
          </a:p>
        </p:txBody>
      </p:sp>
      <p:sp>
        <p:nvSpPr>
          <p:cNvPr id="7" name="Text 5"/>
          <p:cNvSpPr/>
          <p:nvPr/>
        </p:nvSpPr>
        <p:spPr>
          <a:xfrm>
            <a:off x="731520" y="2167128"/>
            <a:ext cx="10698480" cy="822960"/>
          </a:xfrm>
          <a:prstGeom prst="rect">
            <a:avLst/>
          </a:prstGeom>
          <a:noFill/>
          <a:ln/>
        </p:spPr>
        <p:txBody>
          <a:bodyPr wrap="square" rtlCol="0" anchor="ctr"/>
          <a:lstStyle/>
          <a:p>
            <a:pPr marL="177800" indent="-177800">
              <a:lnSpc>
                <a:spcPct val="115000"/>
              </a:lnSpc>
              <a:buSzPct val="100000"/>
              <a:buChar char="•"/>
            </a:pPr>
            <a:r>
              <a:rPr lang="en-US" sz="1100" dirty="0">
                <a:solidFill>
                  <a:srgbClr val="334155"/>
                </a:solidFill>
              </a:rPr>
              <a:t>Repetitive and probably stable, but the map doesn't yet state the full acceptance rule. Automating an underspecified rule risks locking in an implicit policy. That's a mapping gap, not an automation call yet.</a:t>
            </a:r>
            <a:endParaRPr lang="en-US" sz="1100" dirty="0"/>
          </a:p>
        </p:txBody>
      </p:sp>
      <p:sp>
        <p:nvSpPr>
          <p:cNvPr id="8" name="Shape 6"/>
          <p:cNvSpPr/>
          <p:nvPr/>
        </p:nvSpPr>
        <p:spPr>
          <a:xfrm>
            <a:off x="457200" y="3291840"/>
            <a:ext cx="11274552" cy="1417320"/>
          </a:xfrm>
          <a:prstGeom prst="roundRect">
            <a:avLst>
              <a:gd name="adj" fmla="val 3226"/>
            </a:avLst>
          </a:prstGeom>
          <a:solidFill>
            <a:srgbClr val="FDE8E8"/>
          </a:solidFill>
          <a:ln w="6350">
            <a:solidFill>
              <a:srgbClr val="F1B5B5"/>
            </a:solidFill>
            <a:prstDash val="solid"/>
          </a:ln>
        </p:spPr>
      </p:sp>
      <p:sp>
        <p:nvSpPr>
          <p:cNvPr id="9" name="Text 7"/>
          <p:cNvSpPr/>
          <p:nvPr/>
        </p:nvSpPr>
        <p:spPr>
          <a:xfrm>
            <a:off x="731520" y="3429000"/>
            <a:ext cx="10698480" cy="320040"/>
          </a:xfrm>
          <a:prstGeom prst="rect">
            <a:avLst/>
          </a:prstGeom>
          <a:noFill/>
          <a:ln/>
        </p:spPr>
        <p:txBody>
          <a:bodyPr wrap="square" rtlCol="0" anchor="ctr"/>
          <a:lstStyle/>
          <a:p>
            <a:pPr indent="0" marL="0">
              <a:buNone/>
            </a:pPr>
            <a:r>
              <a:rPr lang="en-US" sz="1350" b="1" dirty="0">
                <a:solidFill>
                  <a:srgbClr val="B91C1C"/>
                </a:solidFill>
              </a:rPr>
              <a:t>Quality gate — does the meal match the order?</a:t>
            </a:r>
            <a:endParaRPr lang="en-US" sz="1350" dirty="0"/>
          </a:p>
        </p:txBody>
      </p:sp>
      <p:sp>
        <p:nvSpPr>
          <p:cNvPr id="10" name="Text 8"/>
          <p:cNvSpPr/>
          <p:nvPr/>
        </p:nvSpPr>
        <p:spPr>
          <a:xfrm>
            <a:off x="731520" y="3767328"/>
            <a:ext cx="10698480" cy="822960"/>
          </a:xfrm>
          <a:prstGeom prst="rect">
            <a:avLst/>
          </a:prstGeom>
          <a:noFill/>
          <a:ln/>
        </p:spPr>
        <p:txBody>
          <a:bodyPr wrap="square" rtlCol="0" anchor="ctr"/>
          <a:lstStyle/>
          <a:p>
            <a:pPr marL="177800" indent="-177800">
              <a:lnSpc>
                <a:spcPct val="115000"/>
              </a:lnSpc>
              <a:buSzPct val="100000"/>
              <a:buChar char="•"/>
            </a:pPr>
            <a:r>
              <a:rPr lang="en-US" sz="1100" dirty="0">
                <a:solidFill>
                  <a:srgbClr val="334155"/>
                </a:solidFill>
              </a:rPr>
              <a:t>Passes the rules test on paper, but fails the RPA pattern itself: the input is a physical, visually verified meal, not screen-readable system data. Kept as a routing decision, not elevated to a control point.</a:t>
            </a:r>
            <a:endParaRPr lang="en-US" sz="1100" dirty="0"/>
          </a:p>
        </p:txBody>
      </p:sp>
      <p:sp>
        <p:nvSpPr>
          <p:cNvPr id="11" name="Shape 9"/>
          <p:cNvSpPr/>
          <p:nvPr/>
        </p:nvSpPr>
        <p:spPr>
          <a:xfrm>
            <a:off x="457200" y="4892040"/>
            <a:ext cx="11274552" cy="1417320"/>
          </a:xfrm>
          <a:prstGeom prst="roundRect">
            <a:avLst>
              <a:gd name="adj" fmla="val 3226"/>
            </a:avLst>
          </a:prstGeom>
          <a:solidFill>
            <a:srgbClr val="FDE8E8"/>
          </a:solidFill>
          <a:ln w="6350">
            <a:solidFill>
              <a:srgbClr val="F1B5B5"/>
            </a:solidFill>
            <a:prstDash val="solid"/>
          </a:ln>
        </p:spPr>
      </p:sp>
      <p:sp>
        <p:nvSpPr>
          <p:cNvPr id="12" name="Text 10"/>
          <p:cNvSpPr/>
          <p:nvPr/>
        </p:nvSpPr>
        <p:spPr>
          <a:xfrm>
            <a:off x="731520" y="5029200"/>
            <a:ext cx="10698480" cy="320040"/>
          </a:xfrm>
          <a:prstGeom prst="rect">
            <a:avLst/>
          </a:prstGeom>
          <a:noFill/>
          <a:ln/>
        </p:spPr>
        <p:txBody>
          <a:bodyPr wrap="square" rtlCol="0" anchor="ctr"/>
          <a:lstStyle/>
          <a:p>
            <a:pPr indent="0" marL="0">
              <a:buNone/>
            </a:pPr>
            <a:r>
              <a:rPr lang="en-US" sz="1350" b="1" dirty="0">
                <a:solidFill>
                  <a:srgbClr val="B91C1C"/>
                </a:solidFill>
              </a:rPr>
              <a:t>The stock-accuracy root cause behind the mismatch</a:t>
            </a:r>
            <a:endParaRPr lang="en-US" sz="1350" dirty="0"/>
          </a:p>
        </p:txBody>
      </p:sp>
      <p:sp>
        <p:nvSpPr>
          <p:cNvPr id="13" name="Text 11"/>
          <p:cNvSpPr/>
          <p:nvPr/>
        </p:nvSpPr>
        <p:spPr>
          <a:xfrm>
            <a:off x="731520" y="5367528"/>
            <a:ext cx="10698480" cy="822960"/>
          </a:xfrm>
          <a:prstGeom prst="rect">
            <a:avLst/>
          </a:prstGeom>
          <a:noFill/>
          <a:ln/>
        </p:spPr>
        <p:txBody>
          <a:bodyPr wrap="square" rtlCol="0" anchor="ctr"/>
          <a:lstStyle/>
          <a:p>
            <a:pPr marL="177800" indent="-177800">
              <a:lnSpc>
                <a:spcPct val="115000"/>
              </a:lnSpc>
              <a:buSzPct val="100000"/>
              <a:buChar char="•"/>
            </a:pPr>
            <a:r>
              <a:rPr lang="en-US" sz="1100" dirty="0">
                <a:solidFill>
                  <a:srgbClr val="334155"/>
                </a:solidFill>
              </a:rPr>
              <a:t>Automating around a stale cache (checking it faster) would pave the cow path. The fix is closing the sync gap between Olo and Crunchtime, a redesign question, not an RPA one.</a:t>
            </a:r>
            <a:endParaRPr lang="en-US" sz="1100" dirty="0"/>
          </a:p>
        </p:txBody>
      </p:sp>
      <p:sp>
        <p:nvSpPr>
          <p:cNvPr id="14" name="Text 12"/>
          <p:cNvSpPr/>
          <p:nvPr/>
        </p:nvSpPr>
        <p:spPr>
          <a:xfrm>
            <a:off x="4023360" y="6537960"/>
            <a:ext cx="4114800" cy="274320"/>
          </a:xfrm>
          <a:prstGeom prst="rect">
            <a:avLst/>
          </a:prstGeom>
          <a:noFill/>
          <a:ln/>
        </p:spPr>
        <p:txBody>
          <a:bodyPr wrap="square" rtlCol="0" anchor="ctr"/>
          <a:lstStyle/>
          <a:p>
            <a:pPr algn="ctr" indent="0" marL="0">
              <a:buNone/>
            </a:pPr>
            <a:r>
              <a:rPr lang="en-US" sz="900" dirty="0">
                <a:solidFill>
                  <a:srgbClr val="64748B"/>
                </a:solidFill>
              </a:rPr>
              <a:t>IE-GY 9113B  ·  Systems Integration  ·  Week 4</a:t>
            </a:r>
            <a:endParaRPr lang="en-US" sz="900" dirty="0"/>
          </a:p>
        </p:txBody>
      </p:sp>
      <p:sp>
        <p:nvSpPr>
          <p:cNvPr id="15" name="Text 13"/>
          <p:cNvSpPr/>
          <p:nvPr/>
        </p:nvSpPr>
        <p:spPr>
          <a:xfrm>
            <a:off x="11612880" y="6537960"/>
            <a:ext cx="457200" cy="274320"/>
          </a:xfrm>
          <a:prstGeom prst="rect">
            <a:avLst/>
          </a:prstGeom>
          <a:noFill/>
          <a:ln/>
        </p:spPr>
        <p:txBody>
          <a:bodyPr wrap="square" rtlCol="0" anchor="ctr"/>
          <a:lstStyle/>
          <a:p>
            <a:pPr algn="r" indent="0" marL="0">
              <a:buNone/>
            </a:pPr>
            <a:r>
              <a:rPr lang="en-US" sz="900" dirty="0">
                <a:solidFill>
                  <a:srgbClr val="64748B"/>
                </a:solidFill>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100" b="1" spc="150" kern="0" dirty="0">
                <a:solidFill>
                  <a:srgbClr val="7E22CE"/>
                </a:solidFill>
              </a:rPr>
              <a:t>BREAKOUT 3  ·  COST IT, AND GOVERN IT</a:t>
            </a:r>
            <a:endParaRPr lang="en-US" sz="1100" dirty="0"/>
          </a:p>
        </p:txBody>
      </p:sp>
      <p:sp>
        <p:nvSpPr>
          <p:cNvPr id="3" name="Text 1"/>
          <p:cNvSpPr/>
          <p:nvPr/>
        </p:nvSpPr>
        <p:spPr>
          <a:xfrm>
            <a:off x="457200" y="566928"/>
            <a:ext cx="10058400" cy="502920"/>
          </a:xfrm>
          <a:prstGeom prst="rect">
            <a:avLst/>
          </a:prstGeom>
          <a:noFill/>
          <a:ln/>
        </p:spPr>
        <p:txBody>
          <a:bodyPr wrap="square" rtlCol="0" anchor="ctr"/>
          <a:lstStyle/>
          <a:p>
            <a:pPr indent="0" marL="0">
              <a:buNone/>
            </a:pPr>
            <a:r>
              <a:rPr lang="en-US" sz="2600" b="1" dirty="0">
                <a:solidFill>
                  <a:srgbClr val="0F172A"/>
                </a:solidFill>
              </a:rPr>
              <a:t>D2, costed and governed</a:t>
            </a:r>
            <a:endParaRPr lang="en-US" sz="2600" dirty="0"/>
          </a:p>
        </p:txBody>
      </p:sp>
      <p:sp>
        <p:nvSpPr>
          <p:cNvPr id="4" name="Shape 2"/>
          <p:cNvSpPr/>
          <p:nvPr/>
        </p:nvSpPr>
        <p:spPr>
          <a:xfrm>
            <a:off x="457200" y="1325880"/>
            <a:ext cx="3291840" cy="1737360"/>
          </a:xfrm>
          <a:prstGeom prst="roundRect">
            <a:avLst>
              <a:gd name="adj" fmla="val 3158"/>
            </a:avLst>
          </a:prstGeom>
          <a:solidFill>
            <a:srgbClr val="2A1147"/>
          </a:solidFill>
          <a:ln/>
        </p:spPr>
      </p:sp>
      <p:sp>
        <p:nvSpPr>
          <p:cNvPr id="5" name="Text 3"/>
          <p:cNvSpPr/>
          <p:nvPr/>
        </p:nvSpPr>
        <p:spPr>
          <a:xfrm>
            <a:off x="457200" y="1463040"/>
            <a:ext cx="3291840" cy="822960"/>
          </a:xfrm>
          <a:prstGeom prst="rect">
            <a:avLst/>
          </a:prstGeom>
          <a:noFill/>
          <a:ln/>
        </p:spPr>
        <p:txBody>
          <a:bodyPr wrap="square" rtlCol="0" anchor="ctr"/>
          <a:lstStyle/>
          <a:p>
            <a:pPr algn="ctr" indent="0" marL="0">
              <a:buNone/>
            </a:pPr>
            <a:r>
              <a:rPr lang="en-US" sz="4400" b="1" dirty="0">
                <a:solidFill>
                  <a:srgbClr val="FFFFFF"/>
                </a:solidFill>
              </a:rPr>
              <a:t>~10</a:t>
            </a:r>
            <a:endParaRPr lang="en-US" sz="4400" dirty="0"/>
          </a:p>
        </p:txBody>
      </p:sp>
      <p:sp>
        <p:nvSpPr>
          <p:cNvPr id="6" name="Text 4"/>
          <p:cNvSpPr/>
          <p:nvPr/>
        </p:nvSpPr>
        <p:spPr>
          <a:xfrm>
            <a:off x="594360" y="2286000"/>
            <a:ext cx="3017520" cy="731520"/>
          </a:xfrm>
          <a:prstGeom prst="rect">
            <a:avLst/>
          </a:prstGeom>
          <a:noFill/>
          <a:ln/>
        </p:spPr>
        <p:txBody>
          <a:bodyPr wrap="square" rtlCol="0" anchor="ctr"/>
          <a:lstStyle/>
          <a:p>
            <a:pPr algn="ctr" indent="0" marL="0">
              <a:buNone/>
            </a:pPr>
            <a:r>
              <a:rPr lang="en-US" sz="950" dirty="0">
                <a:solidFill>
                  <a:srgbClr val="DDD6FE"/>
                </a:solidFill>
              </a:rPr>
              <a:t>staff-hours a day, order of magnitude, at an assumed 300 orders/store/day and a 20% mismatch rate. Not sourced, validate before board use</a:t>
            </a:r>
            <a:endParaRPr lang="en-US" sz="950" dirty="0"/>
          </a:p>
        </p:txBody>
      </p:sp>
      <p:sp>
        <p:nvSpPr>
          <p:cNvPr id="7" name="Shape 5"/>
          <p:cNvSpPr/>
          <p:nvPr/>
        </p:nvSpPr>
        <p:spPr>
          <a:xfrm>
            <a:off x="3931920" y="1325880"/>
            <a:ext cx="7772400" cy="1737360"/>
          </a:xfrm>
          <a:prstGeom prst="roundRect">
            <a:avLst>
              <a:gd name="adj" fmla="val 3158"/>
            </a:avLst>
          </a:prstGeom>
          <a:solidFill>
            <a:srgbClr val="F8FAFC"/>
          </a:solidFill>
          <a:ln w="6350">
            <a:solidFill>
              <a:srgbClr val="E2E8F0"/>
            </a:solidFill>
            <a:prstDash val="solid"/>
          </a:ln>
        </p:spPr>
      </p:sp>
      <p:sp>
        <p:nvSpPr>
          <p:cNvPr id="8" name="Text 6"/>
          <p:cNvSpPr/>
          <p:nvPr/>
        </p:nvSpPr>
        <p:spPr>
          <a:xfrm>
            <a:off x="4133088" y="1490472"/>
            <a:ext cx="7370064" cy="292608"/>
          </a:xfrm>
          <a:prstGeom prst="rect">
            <a:avLst/>
          </a:prstGeom>
          <a:noFill/>
          <a:ln/>
        </p:spPr>
        <p:txBody>
          <a:bodyPr wrap="square" rtlCol="0" anchor="ctr"/>
          <a:lstStyle/>
          <a:p>
            <a:pPr indent="0" marL="0">
              <a:buNone/>
            </a:pPr>
            <a:r>
              <a:rPr lang="en-US" sz="1400" b="1" dirty="0">
                <a:solidFill>
                  <a:srgbClr val="581C87"/>
                </a:solidFill>
              </a:rPr>
              <a:t>The number, order-of-magnitude</a:t>
            </a:r>
            <a:endParaRPr lang="en-US" sz="1400" dirty="0"/>
          </a:p>
        </p:txBody>
      </p:sp>
      <p:sp>
        <p:nvSpPr>
          <p:cNvPr id="9" name="Text 7"/>
          <p:cNvSpPr/>
          <p:nvPr/>
        </p:nvSpPr>
        <p:spPr>
          <a:xfrm>
            <a:off x="4133088" y="1801368"/>
            <a:ext cx="7370064" cy="1124712"/>
          </a:xfrm>
          <a:prstGeom prst="rect">
            <a:avLst/>
          </a:prstGeom>
          <a:noFill/>
          <a:ln/>
        </p:spPr>
        <p:txBody>
          <a:bodyPr wrap="square" rtlCol="0" anchor="t"/>
          <a:lstStyle/>
          <a:p>
            <a:pPr marL="177800" indent="-177800">
              <a:lnSpc>
                <a:spcPct val="112000"/>
              </a:lnSpc>
              <a:spcAft>
                <a:spcPts val="600"/>
              </a:spcAft>
              <a:buSzPct val="100000"/>
              <a:buChar char="•"/>
            </a:pPr>
            <a:r>
              <a:rPr lang="en-US" sz="1000" dirty="0">
                <a:solidFill>
                  <a:srgbClr val="334155"/>
                </a:solidFill>
              </a:rPr>
              <a:t>10 min manual reconciliation per affected order (60 min / 6 orders in the 30-order sandbox)</a:t>
            </a:r>
            <a:endParaRPr lang="en-US" sz="1000" dirty="0"/>
          </a:p>
          <a:p>
            <a:pPr marL="177800" indent="-177800">
              <a:lnSpc>
                <a:spcPct val="112000"/>
              </a:lnSpc>
              <a:spcAft>
                <a:spcPts val="600"/>
              </a:spcAft>
              <a:buSzPct val="100000"/>
              <a:buChar char="•"/>
            </a:pPr>
            <a:r>
              <a:rPr lang="en-US" sz="1000" dirty="0">
                <a:solidFill>
                  <a:srgbClr val="334155"/>
                </a:solidFill>
              </a:rPr>
              <a:t>Labor-removed side of payback; Make build + licence side is Lab 2's number, not yet known</a:t>
            </a:r>
            <a:endParaRPr lang="en-US" sz="1000" dirty="0"/>
          </a:p>
          <a:p>
            <a:pPr marL="177800" indent="-177800">
              <a:lnSpc>
                <a:spcPct val="112000"/>
              </a:lnSpc>
              <a:spcAft>
                <a:spcPts val="600"/>
              </a:spcAft>
              <a:buSzPct val="100000"/>
              <a:buChar char="•"/>
            </a:pPr>
            <a:r>
              <a:rPr lang="en-US" sz="1000" dirty="0">
                <a:solidFill>
                  <a:srgbClr val="334155"/>
                </a:solidFill>
              </a:rPr>
              <a:t>This is a shape, not a commitment. Validate against real per-store volume and mismatch rates</a:t>
            </a:r>
            <a:endParaRPr lang="en-US" sz="1000" dirty="0"/>
          </a:p>
        </p:txBody>
      </p:sp>
      <p:sp>
        <p:nvSpPr>
          <p:cNvPr id="10" name="Shape 8"/>
          <p:cNvSpPr/>
          <p:nvPr/>
        </p:nvSpPr>
        <p:spPr>
          <a:xfrm>
            <a:off x="457200" y="3246120"/>
            <a:ext cx="5394960" cy="2926080"/>
          </a:xfrm>
          <a:prstGeom prst="roundRect">
            <a:avLst>
              <a:gd name="adj" fmla="val 1875"/>
            </a:avLst>
          </a:prstGeom>
          <a:solidFill>
            <a:srgbClr val="E0F2FE"/>
          </a:solidFill>
          <a:ln w="6350">
            <a:solidFill>
              <a:srgbClr val="E2E8F0"/>
            </a:solidFill>
            <a:prstDash val="solid"/>
          </a:ln>
        </p:spPr>
      </p:sp>
      <p:sp>
        <p:nvSpPr>
          <p:cNvPr id="11" name="Text 9"/>
          <p:cNvSpPr/>
          <p:nvPr/>
        </p:nvSpPr>
        <p:spPr>
          <a:xfrm>
            <a:off x="658368" y="3410712"/>
            <a:ext cx="4992624" cy="292608"/>
          </a:xfrm>
          <a:prstGeom prst="rect">
            <a:avLst/>
          </a:prstGeom>
          <a:noFill/>
          <a:ln/>
        </p:spPr>
        <p:txBody>
          <a:bodyPr wrap="square" rtlCol="0" anchor="ctr"/>
          <a:lstStyle/>
          <a:p>
            <a:pPr indent="0" marL="0">
              <a:buNone/>
            </a:pPr>
            <a:r>
              <a:rPr lang="en-US" sz="1400" b="1" dirty="0">
                <a:solidFill>
                  <a:srgbClr val="0369A1"/>
                </a:solidFill>
              </a:rPr>
              <a:t>Attended or unattended?</a:t>
            </a:r>
            <a:endParaRPr lang="en-US" sz="1400" dirty="0"/>
          </a:p>
        </p:txBody>
      </p:sp>
      <p:sp>
        <p:nvSpPr>
          <p:cNvPr id="12" name="Text 10"/>
          <p:cNvSpPr/>
          <p:nvPr/>
        </p:nvSpPr>
        <p:spPr>
          <a:xfrm>
            <a:off x="658368" y="3721608"/>
            <a:ext cx="4992624" cy="237744"/>
          </a:xfrm>
          <a:prstGeom prst="rect">
            <a:avLst/>
          </a:prstGeom>
          <a:noFill/>
          <a:ln/>
        </p:spPr>
        <p:txBody>
          <a:bodyPr wrap="square" rtlCol="0" anchor="ctr"/>
          <a:lstStyle/>
          <a:p>
            <a:pPr indent="0" marL="0">
              <a:buNone/>
            </a:pPr>
            <a:r>
              <a:rPr lang="en-US" sz="1100" b="1" dirty="0">
                <a:solidFill>
                  <a:srgbClr val="334155"/>
                </a:solidFill>
              </a:rPr>
              <a:t>Unattended, with a human checkpoint</a:t>
            </a:r>
            <a:endParaRPr lang="en-US" sz="1100" dirty="0"/>
          </a:p>
        </p:txBody>
      </p:sp>
      <p:sp>
        <p:nvSpPr>
          <p:cNvPr id="13" name="Text 11"/>
          <p:cNvSpPr/>
          <p:nvPr/>
        </p:nvSpPr>
        <p:spPr>
          <a:xfrm>
            <a:off x="658368" y="3977640"/>
            <a:ext cx="4992624" cy="2057400"/>
          </a:xfrm>
          <a:prstGeom prst="rect">
            <a:avLst/>
          </a:prstGeom>
          <a:noFill/>
          <a:ln/>
        </p:spPr>
        <p:txBody>
          <a:bodyPr wrap="square" rtlCol="0" anchor="t"/>
          <a:lstStyle/>
          <a:p>
            <a:pPr marL="177800" indent="-177800">
              <a:lnSpc>
                <a:spcPct val="112000"/>
              </a:lnSpc>
              <a:spcAft>
                <a:spcPts val="600"/>
              </a:spcAft>
              <a:buSzPct val="100000"/>
              <a:buChar char="•"/>
            </a:pPr>
            <a:r>
              <a:rPr lang="en-US" sz="1000" dirty="0">
                <a:solidFill>
                  <a:srgbClr val="334155"/>
                </a:solidFill>
              </a:rPr>
              <a:t>Unattended on the routine path, no human needed when live and cached availability agree</a:t>
            </a:r>
            <a:endParaRPr lang="en-US" sz="1000" dirty="0"/>
          </a:p>
          <a:p>
            <a:pPr marL="177800" indent="-177800">
              <a:lnSpc>
                <a:spcPct val="112000"/>
              </a:lnSpc>
              <a:spcAft>
                <a:spcPts val="600"/>
              </a:spcAft>
              <a:buSzPct val="100000"/>
              <a:buChar char="•"/>
            </a:pPr>
            <a:r>
              <a:rPr lang="en-US" sz="1000" dirty="0">
                <a:solidFill>
                  <a:srgbClr val="334155"/>
                </a:solidFill>
              </a:rPr>
              <a:t>Human stays exactly where the map already routes them: the exception queue, every time the gate disagrees</a:t>
            </a:r>
            <a:endParaRPr lang="en-US" sz="1000" dirty="0"/>
          </a:p>
          <a:p>
            <a:pPr marL="177800" indent="-177800">
              <a:lnSpc>
                <a:spcPct val="112000"/>
              </a:lnSpc>
              <a:spcAft>
                <a:spcPts val="600"/>
              </a:spcAft>
              <a:buSzPct val="100000"/>
              <a:buChar char="•"/>
            </a:pPr>
            <a:r>
              <a:rPr lang="en-US" sz="1000" dirty="0">
                <a:solidFill>
                  <a:srgbClr val="334155"/>
                </a:solidFill>
              </a:rPr>
              <a:t>Not case-by-case on the happy path, every time on the path that needs judgment</a:t>
            </a:r>
            <a:endParaRPr lang="en-US" sz="1000" dirty="0"/>
          </a:p>
        </p:txBody>
      </p:sp>
      <p:sp>
        <p:nvSpPr>
          <p:cNvPr id="14" name="Shape 12"/>
          <p:cNvSpPr/>
          <p:nvPr/>
        </p:nvSpPr>
        <p:spPr>
          <a:xfrm>
            <a:off x="6126480" y="3246120"/>
            <a:ext cx="5577840" cy="2926080"/>
          </a:xfrm>
          <a:prstGeom prst="roundRect">
            <a:avLst>
              <a:gd name="adj" fmla="val 1875"/>
            </a:avLst>
          </a:prstGeom>
          <a:solidFill>
            <a:srgbClr val="FEF3C7"/>
          </a:solidFill>
          <a:ln w="6350">
            <a:solidFill>
              <a:srgbClr val="E2E8F0"/>
            </a:solidFill>
            <a:prstDash val="solid"/>
          </a:ln>
        </p:spPr>
      </p:sp>
      <p:sp>
        <p:nvSpPr>
          <p:cNvPr id="15" name="Text 13"/>
          <p:cNvSpPr/>
          <p:nvPr/>
        </p:nvSpPr>
        <p:spPr>
          <a:xfrm>
            <a:off x="6327648" y="3410712"/>
            <a:ext cx="5175504" cy="292608"/>
          </a:xfrm>
          <a:prstGeom prst="rect">
            <a:avLst/>
          </a:prstGeom>
          <a:noFill/>
          <a:ln/>
        </p:spPr>
        <p:txBody>
          <a:bodyPr wrap="square" rtlCol="0" anchor="ctr"/>
          <a:lstStyle/>
          <a:p>
            <a:pPr indent="0" marL="0">
              <a:buNone/>
            </a:pPr>
            <a:r>
              <a:rPr lang="en-US" sz="1400" b="1" dirty="0">
                <a:solidFill>
                  <a:srgbClr val="92400E"/>
                </a:solidFill>
              </a:rPr>
              <a:t>Human oversight &amp; workforce note</a:t>
            </a:r>
            <a:endParaRPr lang="en-US" sz="1400" dirty="0"/>
          </a:p>
        </p:txBody>
      </p:sp>
      <p:sp>
        <p:nvSpPr>
          <p:cNvPr id="16" name="Text 14"/>
          <p:cNvSpPr/>
          <p:nvPr/>
        </p:nvSpPr>
        <p:spPr>
          <a:xfrm>
            <a:off x="6327648" y="3721608"/>
            <a:ext cx="5175504" cy="237744"/>
          </a:xfrm>
          <a:prstGeom prst="rect">
            <a:avLst/>
          </a:prstGeom>
          <a:noFill/>
          <a:ln/>
        </p:spPr>
        <p:txBody>
          <a:bodyPr wrap="square" rtlCol="0" anchor="ctr"/>
          <a:lstStyle/>
          <a:p>
            <a:pPr indent="0" marL="0">
              <a:buNone/>
            </a:pPr>
            <a:r>
              <a:rPr lang="en-US" sz="1100" b="1" dirty="0">
                <a:solidFill>
                  <a:srgbClr val="334155"/>
                </a:solidFill>
              </a:rPr>
              <a:t>A narrower claim than “redeployment”</a:t>
            </a:r>
            <a:endParaRPr lang="en-US" sz="1100" dirty="0"/>
          </a:p>
        </p:txBody>
      </p:sp>
      <p:sp>
        <p:nvSpPr>
          <p:cNvPr id="17" name="Text 15"/>
          <p:cNvSpPr/>
          <p:nvPr/>
        </p:nvSpPr>
        <p:spPr>
          <a:xfrm>
            <a:off x="6327648" y="3977640"/>
            <a:ext cx="5175504" cy="2057400"/>
          </a:xfrm>
          <a:prstGeom prst="rect">
            <a:avLst/>
          </a:prstGeom>
          <a:noFill/>
          <a:ln/>
        </p:spPr>
        <p:txBody>
          <a:bodyPr wrap="square" rtlCol="0" anchor="t"/>
          <a:lstStyle/>
          <a:p>
            <a:pPr marL="177800" indent="-177800">
              <a:lnSpc>
                <a:spcPct val="112000"/>
              </a:lnSpc>
              <a:spcAft>
                <a:spcPts val="600"/>
              </a:spcAft>
              <a:buSzPct val="100000"/>
              <a:buChar char="•"/>
            </a:pPr>
            <a:r>
              <a:rPr lang="en-US" sz="1000" dirty="0">
                <a:solidFill>
                  <a:srgbClr val="334155"/>
                </a:solidFill>
              </a:rPr>
              <a:t>Every freshness disagreement routes to a person, never auto-resolved. Guessing which source is right is exactly the kind of confident-but-wrong answer a bot gives without knowing it's wrong</a:t>
            </a:r>
            <a:endParaRPr lang="en-US" sz="1000" dirty="0"/>
          </a:p>
          <a:p>
            <a:pPr marL="177800" indent="-177800">
              <a:lnSpc>
                <a:spcPct val="112000"/>
              </a:lnSpc>
              <a:spcAft>
                <a:spcPts val="600"/>
              </a:spcAft>
              <a:buSzPct val="100000"/>
              <a:buChar char="•"/>
            </a:pPr>
            <a:r>
              <a:rPr lang="en-US" sz="1000" dirty="0">
                <a:solidFill>
                  <a:srgbClr val="334155"/>
                </a:solidFill>
              </a:rPr>
              <a:t>This candidate removes a manual copy-and-compare check, not a role</a:t>
            </a:r>
            <a:endParaRPr lang="en-US" sz="1000" dirty="0"/>
          </a:p>
          <a:p>
            <a:pPr marL="177800" indent="-177800">
              <a:lnSpc>
                <a:spcPct val="112000"/>
              </a:lnSpc>
              <a:spcAft>
                <a:spcPts val="600"/>
              </a:spcAft>
              <a:buSzPct val="100000"/>
              <a:buChar char="•"/>
            </a:pPr>
            <a:r>
              <a:rPr lang="en-US" sz="1000" dirty="0">
                <a:solidFill>
                  <a:srgbClr val="334155"/>
                </a:solidFill>
              </a:rPr>
              <a:t>Freed minutes return to staff already doing exception handling</a:t>
            </a:r>
            <a:endParaRPr lang="en-US" sz="1000" dirty="0"/>
          </a:p>
          <a:p>
            <a:pPr marL="177800" indent="-177800">
              <a:lnSpc>
                <a:spcPct val="112000"/>
              </a:lnSpc>
              <a:spcAft>
                <a:spcPts val="600"/>
              </a:spcAft>
              <a:buSzPct val="100000"/>
              <a:buChar char="•"/>
            </a:pPr>
            <a:r>
              <a:rPr lang="en-US" sz="1000" dirty="0">
                <a:solidFill>
                  <a:srgbClr val="334155"/>
                </a:solidFill>
              </a:rPr>
              <a:t>A fuller workforce answer, as automation scales past this one candidate, is Board Memo §7's job</a:t>
            </a:r>
            <a:endParaRPr lang="en-US" sz="1000" dirty="0"/>
          </a:p>
        </p:txBody>
      </p:sp>
      <p:sp>
        <p:nvSpPr>
          <p:cNvPr id="18" name="Text 16"/>
          <p:cNvSpPr/>
          <p:nvPr/>
        </p:nvSpPr>
        <p:spPr>
          <a:xfrm>
            <a:off x="4023360" y="6537960"/>
            <a:ext cx="4114800" cy="274320"/>
          </a:xfrm>
          <a:prstGeom prst="rect">
            <a:avLst/>
          </a:prstGeom>
          <a:noFill/>
          <a:ln/>
        </p:spPr>
        <p:txBody>
          <a:bodyPr wrap="square" rtlCol="0" anchor="ctr"/>
          <a:lstStyle/>
          <a:p>
            <a:pPr algn="ctr" indent="0" marL="0">
              <a:buNone/>
            </a:pPr>
            <a:r>
              <a:rPr lang="en-US" sz="900" dirty="0">
                <a:solidFill>
                  <a:srgbClr val="64748B"/>
                </a:solidFill>
              </a:rPr>
              <a:t>IE-GY 9113B  ·  Systems Integration  ·  Week 4</a:t>
            </a:r>
            <a:endParaRPr lang="en-US" sz="900" dirty="0"/>
          </a:p>
        </p:txBody>
      </p:sp>
      <p:sp>
        <p:nvSpPr>
          <p:cNvPr id="19" name="Text 17"/>
          <p:cNvSpPr/>
          <p:nvPr/>
        </p:nvSpPr>
        <p:spPr>
          <a:xfrm>
            <a:off x="11612880" y="6537960"/>
            <a:ext cx="457200" cy="274320"/>
          </a:xfrm>
          <a:prstGeom prst="rect">
            <a:avLst/>
          </a:prstGeom>
          <a:noFill/>
          <a:ln/>
        </p:spPr>
        <p:txBody>
          <a:bodyPr wrap="square" rtlCol="0" anchor="ctr"/>
          <a:lstStyle/>
          <a:p>
            <a:pPr algn="r" indent="0" marL="0">
              <a:buNone/>
            </a:pPr>
            <a:r>
              <a:rPr lang="en-US" sz="900" dirty="0">
                <a:solidFill>
                  <a:srgbClr val="64748B"/>
                </a:solidFill>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A1147"/>
        </a:solidFill>
      </p:bgPr>
    </p:bg>
    <p:spTree>
      <p:nvGrpSpPr>
        <p:cNvPr id="1" name=""/>
        <p:cNvGrpSpPr/>
        <p:nvPr/>
      </p:nvGrpSpPr>
      <p:grpSpPr>
        <a:xfrm>
          <a:off x="0" y="0"/>
          <a:ext cx="0" cy="0"/>
          <a:chOff x="0" y="0"/>
          <a:chExt cx="0" cy="0"/>
        </a:xfrm>
      </p:grpSpPr>
      <p:sp>
        <p:nvSpPr>
          <p:cNvPr id="2" name="Text 0"/>
          <p:cNvSpPr/>
          <p:nvPr/>
        </p:nvSpPr>
        <p:spPr>
          <a:xfrm>
            <a:off x="548640" y="640080"/>
            <a:ext cx="7315200" cy="320040"/>
          </a:xfrm>
          <a:prstGeom prst="rect">
            <a:avLst/>
          </a:prstGeom>
          <a:noFill/>
          <a:ln/>
        </p:spPr>
        <p:txBody>
          <a:bodyPr wrap="square" rtlCol="0" anchor="ctr"/>
          <a:lstStyle/>
          <a:p>
            <a:pPr indent="0" marL="0">
              <a:buNone/>
            </a:pPr>
            <a:r>
              <a:rPr lang="en-US" sz="1300" b="1" spc="200" kern="0" dirty="0">
                <a:solidFill>
                  <a:srgbClr val="C4B5FD"/>
                </a:solidFill>
              </a:rPr>
              <a:t>WHERE THIS LANDS</a:t>
            </a:r>
            <a:endParaRPr lang="en-US" sz="1300" dirty="0"/>
          </a:p>
        </p:txBody>
      </p:sp>
      <p:sp>
        <p:nvSpPr>
          <p:cNvPr id="3" name="Text 1"/>
          <p:cNvSpPr/>
          <p:nvPr/>
        </p:nvSpPr>
        <p:spPr>
          <a:xfrm>
            <a:off x="548640" y="1005840"/>
            <a:ext cx="10058400" cy="1463040"/>
          </a:xfrm>
          <a:prstGeom prst="rect">
            <a:avLst/>
          </a:prstGeom>
          <a:noFill/>
          <a:ln/>
        </p:spPr>
        <p:txBody>
          <a:bodyPr wrap="square" rtlCol="0" anchor="ctr"/>
          <a:lstStyle/>
          <a:p>
            <a:pPr indent="0" marL="0">
              <a:buNone/>
            </a:pPr>
            <a:r>
              <a:rPr lang="en-US" sz="3200" b="1" dirty="0">
                <a:solidFill>
                  <a:srgbClr val="FFFFFF"/>
                </a:solidFill>
              </a:rPr>
              <a:t>The scan is the argument.</a:t>
            </a:r>
            <a:endParaRPr lang="en-US" sz="3200" dirty="0"/>
          </a:p>
          <a:p>
            <a:pPr indent="0" marL="0">
              <a:buNone/>
            </a:pPr>
            <a:r>
              <a:rPr lang="en-US" sz="3200" b="1" dirty="0">
                <a:solidFill>
                  <a:srgbClr val="FFFFFF"/>
                </a:solidFill>
              </a:rPr>
              <a:t>The build is Lab 2.</a:t>
            </a:r>
            <a:endParaRPr lang="en-US" sz="3200" dirty="0"/>
          </a:p>
        </p:txBody>
      </p:sp>
      <p:sp>
        <p:nvSpPr>
          <p:cNvPr id="4" name="Text 2"/>
          <p:cNvSpPr/>
          <p:nvPr/>
        </p:nvSpPr>
        <p:spPr>
          <a:xfrm>
            <a:off x="548640" y="2743200"/>
            <a:ext cx="2377440" cy="502920"/>
          </a:xfrm>
          <a:prstGeom prst="rect">
            <a:avLst/>
          </a:prstGeom>
          <a:noFill/>
          <a:ln/>
        </p:spPr>
        <p:txBody>
          <a:bodyPr wrap="square" rtlCol="0" anchor="ctr"/>
          <a:lstStyle/>
          <a:p>
            <a:pPr indent="0" marL="0">
              <a:buNone/>
            </a:pPr>
            <a:r>
              <a:rPr lang="en-US" sz="1400" b="1" dirty="0">
                <a:solidFill>
                  <a:srgbClr val="C4B5FD"/>
                </a:solidFill>
              </a:rPr>
              <a:t>Board Memo §4</a:t>
            </a:r>
            <a:endParaRPr lang="en-US" sz="1400" dirty="0"/>
          </a:p>
        </p:txBody>
      </p:sp>
      <p:sp>
        <p:nvSpPr>
          <p:cNvPr id="5" name="Text 3"/>
          <p:cNvSpPr/>
          <p:nvPr/>
        </p:nvSpPr>
        <p:spPr>
          <a:xfrm>
            <a:off x="3017520" y="2743200"/>
            <a:ext cx="8412480" cy="502920"/>
          </a:xfrm>
          <a:prstGeom prst="rect">
            <a:avLst/>
          </a:prstGeom>
          <a:noFill/>
          <a:ln/>
        </p:spPr>
        <p:txBody>
          <a:bodyPr wrap="square" rtlCol="0" anchor="ctr"/>
          <a:lstStyle/>
          <a:p>
            <a:pPr indent="0" marL="0">
              <a:buNone/>
            </a:pPr>
            <a:r>
              <a:rPr lang="en-US" sz="1300" dirty="0">
                <a:solidFill>
                  <a:srgbClr val="EDE9FE"/>
                </a:solidFill>
              </a:rPr>
              <a:t>Automation Journey, this scan is the evidence</a:t>
            </a:r>
            <a:endParaRPr lang="en-US" sz="1300" dirty="0"/>
          </a:p>
        </p:txBody>
      </p:sp>
      <p:sp>
        <p:nvSpPr>
          <p:cNvPr id="6" name="Text 4"/>
          <p:cNvSpPr/>
          <p:nvPr/>
        </p:nvSpPr>
        <p:spPr>
          <a:xfrm>
            <a:off x="548640" y="3310128"/>
            <a:ext cx="2377440" cy="502920"/>
          </a:xfrm>
          <a:prstGeom prst="rect">
            <a:avLst/>
          </a:prstGeom>
          <a:noFill/>
          <a:ln/>
        </p:spPr>
        <p:txBody>
          <a:bodyPr wrap="square" rtlCol="0" anchor="ctr"/>
          <a:lstStyle/>
          <a:p>
            <a:pPr indent="0" marL="0">
              <a:buNone/>
            </a:pPr>
            <a:r>
              <a:rPr lang="en-US" sz="1400" b="1" dirty="0">
                <a:solidFill>
                  <a:srgbClr val="C4B5FD"/>
                </a:solidFill>
              </a:rPr>
              <a:t>Slide S6</a:t>
            </a:r>
            <a:endParaRPr lang="en-US" sz="1400" dirty="0"/>
          </a:p>
        </p:txBody>
      </p:sp>
      <p:sp>
        <p:nvSpPr>
          <p:cNvPr id="7" name="Text 5"/>
          <p:cNvSpPr/>
          <p:nvPr/>
        </p:nvSpPr>
        <p:spPr>
          <a:xfrm>
            <a:off x="3017520" y="3310128"/>
            <a:ext cx="8412480" cy="502920"/>
          </a:xfrm>
          <a:prstGeom prst="rect">
            <a:avLst/>
          </a:prstGeom>
          <a:noFill/>
          <a:ln/>
        </p:spPr>
        <p:txBody>
          <a:bodyPr wrap="square" rtlCol="0" anchor="ctr"/>
          <a:lstStyle/>
          <a:p>
            <a:pPr indent="0" marL="0">
              <a:buNone/>
            </a:pPr>
            <a:r>
              <a:rPr lang="en-US" sz="1300" dirty="0">
                <a:solidFill>
                  <a:srgbClr val="EDE9FE"/>
                </a:solidFill>
              </a:rPr>
              <a:t>Automation-opportunity slide, still inside Milestone 1: Diagnose</a:t>
            </a:r>
            <a:endParaRPr lang="en-US" sz="1300" dirty="0"/>
          </a:p>
        </p:txBody>
      </p:sp>
      <p:sp>
        <p:nvSpPr>
          <p:cNvPr id="8" name="Text 6"/>
          <p:cNvSpPr/>
          <p:nvPr/>
        </p:nvSpPr>
        <p:spPr>
          <a:xfrm>
            <a:off x="548640" y="3877056"/>
            <a:ext cx="2377440" cy="502920"/>
          </a:xfrm>
          <a:prstGeom prst="rect">
            <a:avLst/>
          </a:prstGeom>
          <a:noFill/>
          <a:ln/>
        </p:spPr>
        <p:txBody>
          <a:bodyPr wrap="square" rtlCol="0" anchor="ctr"/>
          <a:lstStyle/>
          <a:p>
            <a:pPr indent="0" marL="0">
              <a:buNone/>
            </a:pPr>
            <a:r>
              <a:rPr lang="en-US" sz="1400" b="1" dirty="0">
                <a:solidFill>
                  <a:srgbClr val="C4B5FD"/>
                </a:solidFill>
              </a:rPr>
              <a:t>Lab 2, Week 6</a:t>
            </a:r>
            <a:endParaRPr lang="en-US" sz="1400" dirty="0"/>
          </a:p>
        </p:txBody>
      </p:sp>
      <p:sp>
        <p:nvSpPr>
          <p:cNvPr id="9" name="Text 7"/>
          <p:cNvSpPr/>
          <p:nvPr/>
        </p:nvSpPr>
        <p:spPr>
          <a:xfrm>
            <a:off x="3017520" y="3877056"/>
            <a:ext cx="8412480" cy="502920"/>
          </a:xfrm>
          <a:prstGeom prst="rect">
            <a:avLst/>
          </a:prstGeom>
          <a:noFill/>
          <a:ln/>
        </p:spPr>
        <p:txBody>
          <a:bodyPr wrap="square" rtlCol="0" anchor="ctr"/>
          <a:lstStyle/>
          <a:p>
            <a:pPr indent="0" marL="0">
              <a:buNone/>
            </a:pPr>
            <a:r>
              <a:rPr lang="en-US" sz="1300" dirty="0">
                <a:solidFill>
                  <a:srgbClr val="EDE9FE"/>
                </a:solidFill>
              </a:rPr>
              <a:t>Build the D2 freshness-and-feasibility gate in Make, then break it</a:t>
            </a:r>
            <a:endParaRPr lang="en-US" sz="1300" dirty="0"/>
          </a:p>
        </p:txBody>
      </p:sp>
      <p:sp>
        <p:nvSpPr>
          <p:cNvPr id="10" name="Text 8"/>
          <p:cNvSpPr/>
          <p:nvPr/>
        </p:nvSpPr>
        <p:spPr>
          <a:xfrm>
            <a:off x="548640" y="4443984"/>
            <a:ext cx="2377440" cy="502920"/>
          </a:xfrm>
          <a:prstGeom prst="rect">
            <a:avLst/>
          </a:prstGeom>
          <a:noFill/>
          <a:ln/>
        </p:spPr>
        <p:txBody>
          <a:bodyPr wrap="square" rtlCol="0" anchor="ctr"/>
          <a:lstStyle/>
          <a:p>
            <a:pPr indent="0" marL="0">
              <a:buNone/>
            </a:pPr>
            <a:r>
              <a:rPr lang="en-US" sz="1400" b="1" dirty="0">
                <a:solidFill>
                  <a:srgbClr val="C4B5FD"/>
                </a:solidFill>
              </a:rPr>
              <a:t>Lab 3, Week 9</a:t>
            </a:r>
            <a:endParaRPr lang="en-US" sz="1400" dirty="0"/>
          </a:p>
        </p:txBody>
      </p:sp>
      <p:sp>
        <p:nvSpPr>
          <p:cNvPr id="11" name="Text 9"/>
          <p:cNvSpPr/>
          <p:nvPr/>
        </p:nvSpPr>
        <p:spPr>
          <a:xfrm>
            <a:off x="3017520" y="4443984"/>
            <a:ext cx="8412480" cy="502920"/>
          </a:xfrm>
          <a:prstGeom prst="rect">
            <a:avLst/>
          </a:prstGeom>
          <a:noFill/>
          <a:ln/>
        </p:spPr>
        <p:txBody>
          <a:bodyPr wrap="square" rtlCol="0" anchor="ctr"/>
          <a:lstStyle/>
          <a:p>
            <a:pPr indent="0" marL="0">
              <a:buNone/>
            </a:pPr>
            <a:r>
              <a:rPr lang="en-US" sz="1300" dirty="0">
                <a:solidFill>
                  <a:srgbClr val="EDE9FE"/>
                </a:solidFill>
              </a:rPr>
              <a:t>Build the D3 recovery-assist agent, previewed here</a:t>
            </a:r>
            <a:endParaRPr lang="en-US" sz="1300" dirty="0"/>
          </a:p>
        </p:txBody>
      </p:sp>
      <p:sp>
        <p:nvSpPr>
          <p:cNvPr id="12" name="Shape 10"/>
          <p:cNvSpPr/>
          <p:nvPr/>
        </p:nvSpPr>
        <p:spPr>
          <a:xfrm>
            <a:off x="548640" y="5257800"/>
            <a:ext cx="11064240" cy="0"/>
          </a:xfrm>
          <a:prstGeom prst="line">
            <a:avLst/>
          </a:prstGeom>
          <a:noFill/>
          <a:ln w="19050">
            <a:solidFill>
              <a:srgbClr val="7E22CE"/>
            </a:solidFill>
            <a:prstDash val="solid"/>
          </a:ln>
        </p:spPr>
      </p:sp>
      <p:sp>
        <p:nvSpPr>
          <p:cNvPr id="13" name="Text 11"/>
          <p:cNvSpPr/>
          <p:nvPr/>
        </p:nvSpPr>
        <p:spPr>
          <a:xfrm>
            <a:off x="548640" y="5440680"/>
            <a:ext cx="9144000" cy="320040"/>
          </a:xfrm>
          <a:prstGeom prst="rect">
            <a:avLst/>
          </a:prstGeom>
          <a:noFill/>
          <a:ln/>
        </p:spPr>
        <p:txBody>
          <a:bodyPr wrap="square" rtlCol="0" anchor="ctr"/>
          <a:lstStyle/>
          <a:p>
            <a:pPr indent="0" marL="0">
              <a:buNone/>
            </a:pPr>
            <a:r>
              <a:rPr lang="en-US" sz="1100" i="1" dirty="0">
                <a:solidFill>
                  <a:srgbClr val="C4B5FD"/>
                </a:solidFill>
              </a:rPr>
              <a:t>Full detail: wiki/project/week4/RPA-Candidate-Scan-Sweetgreen.md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2026-09-25T13:57:25Z</dcterms:created>
  <dcterms:modified xsi:type="dcterms:W3CDTF">2026-09-25T13:57:25Z</dcterms:modified>
</cp:coreProperties>
</file>