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IE-GY 9113B · Systems Integration: From ERP to Agentic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Sweetgreen: Order &amp; Payment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D9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 — Diagnose &amp; Map a Process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· three diagnostic points · curveball · synthetic data · board-level consequence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Lab 1 · September 18,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map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ordering hands off to kitchen execution at G → H → I — exactly where this map's rejection/rework path lives.</a:t>
            </a:r>
            <a:endParaRPr lang="en-US" sz="1500" dirty="0"/>
          </a:p>
        </p:txBody>
      </p:sp>
      <p:pic>
        <p:nvPicPr>
          <p:cNvPr id="5" name="Image 0" descr="/Users/salauatkakimzanov/Desktop/Uni/ERP-to-Agentic/project/diagrams/assets/Order-and-Payment-Process-Map-Diagram-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83080"/>
            <a:ext cx="2481895" cy="5074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04855" y="1783080"/>
            <a:ext cx="8033705" cy="1444752"/>
          </a:xfrm>
          <a:prstGeom prst="roundRect">
            <a:avLst>
              <a:gd name="adj" fmla="val 5063"/>
            </a:avLst>
          </a:prstGeom>
          <a:solidFill>
            <a:srgbClr val="FDE8E8"/>
          </a:solidFill>
          <a:ln/>
        </p:spPr>
      </p:sp>
      <p:sp>
        <p:nvSpPr>
          <p:cNvPr id="7" name="Shape 4"/>
          <p:cNvSpPr/>
          <p:nvPr/>
        </p:nvSpPr>
        <p:spPr>
          <a:xfrm>
            <a:off x="3506023" y="1984248"/>
            <a:ext cx="502920" cy="50292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06023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173535" y="1947672"/>
            <a:ext cx="69821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friction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173535" y="2258568"/>
            <a:ext cx="698214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→ correct/remake → recheck loop when the meal doesn't match the confirmed order.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04855" y="3410712"/>
            <a:ext cx="8033705" cy="1444752"/>
          </a:xfrm>
          <a:prstGeom prst="roundRect">
            <a:avLst>
              <a:gd name="adj" fmla="val 5063"/>
            </a:avLst>
          </a:prstGeom>
          <a:solidFill>
            <a:srgbClr val="FFF3D6"/>
          </a:solidFill>
          <a:ln/>
        </p:spPr>
      </p:sp>
      <p:sp>
        <p:nvSpPr>
          <p:cNvPr id="12" name="Shape 9"/>
          <p:cNvSpPr/>
          <p:nvPr/>
        </p:nvSpPr>
        <p:spPr>
          <a:xfrm>
            <a:off x="3506023" y="3611880"/>
            <a:ext cx="502920" cy="50292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06023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173535" y="3575304"/>
            <a:ext cx="69821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rules → Lab 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173535" y="3886200"/>
            <a:ext cx="698214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order be prepared as specified? Automate first — but the input needs a freshness gate (see curveball).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04855" y="5038344"/>
            <a:ext cx="8033705" cy="1444752"/>
          </a:xfrm>
          <a:prstGeom prst="roundRect">
            <a:avLst>
              <a:gd name="adj" fmla="val 5063"/>
            </a:avLst>
          </a:prstGeom>
          <a:solidFill>
            <a:srgbClr val="EFE7F5"/>
          </a:solidFill>
          <a:ln/>
        </p:spPr>
      </p:sp>
      <p:sp>
        <p:nvSpPr>
          <p:cNvPr id="17" name="Shape 14"/>
          <p:cNvSpPr/>
          <p:nvPr/>
        </p:nvSpPr>
        <p:spPr>
          <a:xfrm>
            <a:off x="3506023" y="5239512"/>
            <a:ext cx="502920" cy="502920"/>
          </a:xfrm>
          <a:prstGeom prst="ellipse">
            <a:avLst/>
          </a:prstGeom>
          <a:solidFill>
            <a:srgbClr val="57068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06023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173535" y="5202936"/>
            <a:ext cx="69821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→ Lab 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173535" y="5513832"/>
            <a:ext cx="698214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assess feasible options and the customer consents. No clean rule for which compromise to offer.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Sweetgreen · Order &amp; Payment · Lab 1 · IE-GY 9113B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CURVEBALL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batch, not real time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card #3. Availability data feeding decision ② now comes from two places — a live system, and a nightly legacy cache — and they don't always agree.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Can the order be prepared as specified?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clean yes/no rule against a single availability check. Easy to automate — nothing left to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0574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FFF3D6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CURVEBALL ABSORBED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43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STALE: do live and cached availability agree?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383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precondition sits in front of ②. When the nightly cache disagrees with the live system, the order holds for a reason distinct from “unavailable item” — a freshness gate, not a menu fix.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menu configurations seeded    </a:t>
            </a:r>
            <a:pPr indent="0" marL="0">
              <a:buNone/>
            </a:pPr>
            <a:r>
              <a:rPr lang="en-US" sz="30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live/cache mismatches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Sweetgreen · Order &amp; Payment · Lab 1 · IE-GY 9113B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GENERATED LAST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Board-level consequence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modeled exposure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246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labor minutes × $0.40/min + $20 refunds = $44, or $7.33 per affected order.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74920" y="1463040"/>
            <a:ext cx="2066544" cy="1417320"/>
          </a:xfrm>
          <a:prstGeom prst="roundRect">
            <a:avLst>
              <a:gd name="adj" fmla="val 5161"/>
            </a:avLst>
          </a:prstGeom>
          <a:solidFill>
            <a:srgbClr val="EFE7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57800" y="162763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30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2331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orders reworked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70064" y="1463040"/>
            <a:ext cx="2066544" cy="1417320"/>
          </a:xfrm>
          <a:prstGeom prst="roundRect">
            <a:avLst>
              <a:gd name="adj" fmla="val 5161"/>
            </a:avLst>
          </a:prstGeom>
          <a:solidFill>
            <a:srgbClr val="EFE7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52944" y="162763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52944" y="2331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65208" y="1463040"/>
            <a:ext cx="2066544" cy="1417320"/>
          </a:xfrm>
          <a:prstGeom prst="roundRect">
            <a:avLst>
              <a:gd name="adj" fmla="val 5161"/>
            </a:avLst>
          </a:prstGeom>
          <a:solidFill>
            <a:srgbClr val="EFE7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48088" y="1627632"/>
            <a:ext cx="17007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70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18.7 min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848088" y="233172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lateness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3246120"/>
            <a:ext cx="1126541" cy="868680"/>
          </a:xfrm>
          <a:prstGeom prst="roundRect">
            <a:avLst>
              <a:gd name="adj" fmla="val 6316"/>
            </a:avLst>
          </a:prstGeom>
          <a:solidFill>
            <a:srgbClr val="F7F3FA"/>
          </a:solidFill>
          <a:ln w="9525">
            <a:solidFill>
              <a:srgbClr val="5706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9784" y="3246120"/>
            <a:ext cx="10168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mismatch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201461" y="32461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57493" y="3246120"/>
            <a:ext cx="1126541" cy="868680"/>
          </a:xfrm>
          <a:prstGeom prst="roundRect">
            <a:avLst>
              <a:gd name="adj" fmla="val 6316"/>
            </a:avLst>
          </a:prstGeom>
          <a:solidFill>
            <a:srgbClr val="F7F3FA"/>
          </a:solidFill>
          <a:ln w="9525">
            <a:solidFill>
              <a:srgbClr val="57068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12357" y="3246120"/>
            <a:ext cx="10168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+ manual contact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584034" y="32461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40066" y="3246120"/>
            <a:ext cx="1126541" cy="868680"/>
          </a:xfrm>
          <a:prstGeom prst="roundRect">
            <a:avLst>
              <a:gd name="adj" fmla="val 6316"/>
            </a:avLst>
          </a:prstGeom>
          <a:solidFill>
            <a:srgbClr val="F7F3FA"/>
          </a:solidFill>
          <a:ln w="9525">
            <a:solidFill>
              <a:srgbClr val="57068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94930" y="3246120"/>
            <a:ext cx="10168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+ kitchen re-entry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966606" y="32461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22638" y="3246120"/>
            <a:ext cx="1126541" cy="868680"/>
          </a:xfrm>
          <a:prstGeom prst="roundRect">
            <a:avLst>
              <a:gd name="adj" fmla="val 6316"/>
            </a:avLst>
          </a:prstGeom>
          <a:solidFill>
            <a:srgbClr val="F7F3FA"/>
          </a:solidFill>
          <a:ln w="9525">
            <a:solidFill>
              <a:srgbClr val="5706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77502" y="3246120"/>
            <a:ext cx="10168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pickup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349179" y="324612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605211" y="3246120"/>
            <a:ext cx="1126541" cy="868680"/>
          </a:xfrm>
          <a:prstGeom prst="roundRect">
            <a:avLst>
              <a:gd name="adj" fmla="val 6316"/>
            </a:avLst>
          </a:prstGeom>
          <a:solidFill>
            <a:srgbClr val="FFF3D6"/>
          </a:solidFill>
          <a:ln w="9525">
            <a:solidFill>
              <a:srgbClr val="B779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660075" y="3246120"/>
            <a:ext cx="10168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labor + refunds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43484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illustrative sample — not measured Sweetgreen performance. No company-wide extrapolation from 30 orders at one modeled store.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Sweetgreen · Order &amp; Payment · Lab 1 · IE-GY 9113B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04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BOARD COULD FUND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targets, one milestone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6B1FA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MAKE (NEXT WEEK: RPA)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88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D2: the freshness gate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“can the order be prepared as specified” — but the automation has to resolve live-vs-cached disagreement, not just the yes/no rule.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6B1F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— RELEVANCE AI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88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D3: the recovery decision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assess feasible options and the customer consents. An agent can support that judgment; it can't make the customer's choice.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pickup promises, less avoidable recovery work. $44 is modeled exposure, not a guaranteed saving.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· Backbone diagnosis · Memo §3 · Milestone 1: Diagnose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2026-09-18T14:07:53Z</dcterms:created>
  <dcterms:modified xsi:type="dcterms:W3CDTF">2026-09-18T14:07:53Z</dcterms:modified>
</cp:coreProperties>
</file>