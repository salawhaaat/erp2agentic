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company name, your team, and a single-sentence thesis: from [today's state] to [target state]. This slide plus S13 frame the whole board ask.
Visual idea: Consider a company photo or product image to set the scene in one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[S2 · Executive summary / the ask]  Fed by: All labs · W11+  ·  Backs Memo §1  ·  FRAME
Build this slide LAST, once every other slide exists. Frame the ask in cash terms (conversion speed / working-capital / revenue), not cost alone. Illustrative: '[Company] loses [value] on [thread]; we request [$ask] over [your horizon] to move [metric] from [A] to [B].'
Visual idea: One big number — the value at stake, or the size of the ask — or a simple Stabilise → Automate → Orchestrate arrow. Not four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[S3 · Context &amp; backbone]  Fed by: W1  ·  Backs Memo §2  ·  DIAGNOSE
From your Week 1 backbone-context note. Keep it to the essentials a board needs to orient. Illustrative: 'ERP + [bolt-ons]; archetype [ ]; primary thread [Operations &amp; Supply Chain].'
Visual idea: A simple systems diagram of the current stack (boxes + arrows) shows the backbone faster than any list.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[S4 · The strategic problem]  Fed by: W2  ·  Backs Memo §2  ·  DIAGNOSE
From your Week 2 context-and-diagnosis brief. State the problem as a board would hear it — a value leak, not a technical gripe.
Visual idea: Mark the value leak on a small process strip, or show one chart that sizes the gap.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[S5 · Backbone diagnosis]  Fed by: Lab 1  ·  Backs Memo §3  ·  DIAGNOSE
Drop in your annotated Lab 1 map. The map is the evidence; the one sentence under it (the consequence) is the argument.
Visual idea: Your annotated Lab 1 process map IS this slide. Keep words to the one-line consequence.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[S6 · Automation opportunity]  Fed by: W4 · Lab 2  ·  Backs Memo §4  ·  DIAGNOSE
From your Week 4 RPA-candidate scan. Rank candidates; explain the selection logic, not just the list.
Visual idea: A 2×2 (volume × rule-stability) or a ranked bar makes your RPA priorities obvious at a glance.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[S7 · Automation journey]  Fed by: W5 · Lab 2  ·  Backs Memo §4  ·  DIAGNOSE
From Lab 2 + your Week 5 CoE draft. The post-mortem (what broke, what oversight) is a strength to show, not hide.
Visual idea: A before/after workflow, or a small ROI bar (hours or $ saved) — show the change, don't just claim it.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[S8 · Agent design]  Fed by: W7–W8 · Lab 3  ·  Backs Memo §5  ·  DESIGN
From your Week 7 judgment-step note, Week 8 SPAR sketch, and Lab 3. Show the architecture as a diagram if it reads faster than text.
Visual idea: Draw the SPAR loop (goal → plan → act → reflect). Architecture is far clearer drawn than described.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[S9 · Agent governance]  Fed by: W9–W10 · Lab 3  ·  Backs Memo §5  ·  DESIGN
From Lab 3's adversarial testing + your Week 10 checkpoint feedback. The failure you found is the credibility of your governance.
Visual idea: A small table of your three adversarial tests (input → result → guardrail), or a human-in-the-loop decision flow.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Three-phase roadmap]  Fed by: W11 · Lab 4  ·  Backs Memo §6  ·  IMPLEMENT
From your Week 11 roadmap draft + Lab 4 Blueprint. This is the COMPANY's roadmap — distinct from the team's Diagnose→Design→Implement method. Set the horizon to fit your company — a lean startup might run 9–18 months; a large enterprise 24–36+.
Visual idea: A phased timeline / roadmap band over the horizon you choose — the single most expected visual on a board deck.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Value / cost / risk]  Fed by: W11 · Lab 4  ·  Backs Memo §6  ·  IMPLEMENT
The board's decision slide. Tie value to cash (conversion / working-capital / revenue). Numbers can be estimates — label them as such.
Visual idea: Keep the table, or turn it into a phased value-vs-investment chart if that argues harder.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Human-AI partnership]  Fed by: W13  ·  Backs Memo §7  ·  IMPLEMENT
From your Week 13 workforce-transition section. Boards fund transformations they trust will be governed and staffed — not just built.
Visual idea: A before/after of roles, or a simple reskilling flow — people changes read better as a picture.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The ask / close]  Fed by: W11+  ·  Backs Memo §1 / §6  ·  IMPLEMENT
Close by restating the ask from S2 as a decision. End on the outcome, not the technology.
Visual idea: End on one image or one number — the single thing you want the board to remember. Never bullets.
(The prompt bullets are the points to make — replace them with content in whatever form best makes the point.)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board-deck template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1064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final board presentation — ~13 content slides, ~20 minutes plus 5 minutes of Q&amp;A (December 11, 20% of your grade).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slide's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card names the lessons and labs that produce its content;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§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tag shows which board-memo section it shares its argument with. Deck and memo are one argument.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These slides say WHAT to cover, not HOW to show it — that is your call. A strong board deck is mostly diagrams, charts, and one clear number per slide, not walls of bullets.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Where a visual would land harder, look for the </a:t>
            </a:r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Visual idea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 — a starting point, not a rule. The grey prompt bullets are the points to make; replace them with your own content in whatever form argues best.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Aim for ~60–90 seconds per slide. Build S2 (executive summary) last.
</a:t>
            </a:r>
            <a:endParaRPr lang="en-US" sz="15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Speaker notes on each slide carry fuller guidance and an illustrative example.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94360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9436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THIS SLIDE BEFORE PRESENTING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706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indent="0" marL="0">
              <a:buNone/>
            </a:pPr>
            <a:r>
              <a:rPr lang="en-US" sz="1500" b="1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7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Systems Integration: From ERP to 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Company Name ]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D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One-line transformation thesis: from today's state to the target state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]        </a:t>
            </a:r>
            <a:pPr indent="0" marL="0">
              <a:buNone/>
            </a:pPr>
            <a:r>
              <a:rPr lang="en-US" sz="18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Dec 11, 2026 ]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Board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 ·  Executive summary / the ask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/ the ask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has, what it needs, the three-phase path, the investment ask.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0" y="17373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labs · 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company has today (backbone in one line)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needs — the value at stake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three-phase path: Stabilise → Automate →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ask + headline cash outcome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big number — the value at stake, or the size of the ask — or a simple Stabilise → Automate → Orchestrate arrow. Not four bullets.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·  Context &amp; backbone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backbone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stack, archetype, and primary thread.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integration stack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Operating-model archetype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thread (Customer / Operations &amp; Supply Chain / Cash Management)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systems diagram of the current stack (boxes + arrows) shows the backbone faster than any list.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 ·  The strategic problem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problem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 — the value at stake.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backbone fails to leverage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consequence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at stake (quantify if you can)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the value leak on a small process strip, or show one chart that sizes the gap.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 ·  Backbone diagnosis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diagnosis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map; control + decision points; friction chain; the board-level consequence.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pic>
        <p:nvPicPr>
          <p:cNvPr id="17" name="Picture 16" descr="Order-and-Payment-Swim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0280"/>
            <a:ext cx="6949440" cy="33220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5699532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1C87"/>
                </a:solidFill>
              </a:rPr>
              <a:t>6 of 30 synthetic orders (20%)  ·  $44 modeled exposure  ·  18.7 min average lateness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47004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</a:rPr>
              <a:t>Live vs. nightly-cached availability data disagree at the kitchen feasibility check (②) — the exact seam where digital ordering meets kitchen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 ·  Automation opportunity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opportunity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RPA candidates — where automation adds value.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3657600" cy="3794760"/>
          </a:xfrm>
          <a:prstGeom prst="roundRect">
            <a:avLst/>
          </a:prstGeom>
          <a:solidFill>
            <a:srgbClr val="FFF3D6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37744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7791F"/>
                </a:solidFill>
              </a:rPr>
              <a:t>D2 — Feasible? (live vs. cached)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2679192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4155"/>
                </a:solidFill>
              </a:rPr>
              <a:t>→ RPA · Lab 2 (Make)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017520"/>
            <a:ext cx="3328416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Repetitive: every order passes through it. Rules-based: approve when live and cached availability agree and the customization is supported, else hold. Stable: the rule and its two source systems (Olo, Crunchtime) rarely change.
Thread: Operations, also Cash and Customer.
Prize: 6 of 30 synthetic orders (20%) hit the mismatch — $44 modeled exposure, 18.7 min late on average.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240280"/>
            <a:ext cx="3794760" cy="3794760"/>
          </a:xfrm>
          <a:prstGeom prst="round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22CE"/>
                </a:solidFill>
              </a:rPr>
              <a:t>D3 — Recovery agreed?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679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34155"/>
                </a:solidFill>
              </a:rPr>
              <a:t>→ AI agent · Lab 3, Week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017520"/>
            <a:ext cx="3474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</a:rPr>
              <a:t>Repetitive: every exception reaches it. Rules-based: no — two reasonable staff members could offer different resolutions to the same customer; depends on urgency, prep ETA, and consent.
This is the judgment step: an assistant can recommend a recovery option for manager review, but it can't make the customer's choice.
Previewed now, built once intelligent automation (W7) and agent design (W8) are covered.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Also scanned and rejected: order-acceptance criteria beyond payment (underspecified rule), the kitchen quality gate (not screen-readable), and the stock-accuracy root cause (a redesign question, not an RPA one).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57068C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 ·  Automation journey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journey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automation + CoE / operating model + a simple ROI.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· Lab 2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Lab 2 working automation (what it connects)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broke + the oversight you added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CoE / operating model (Week 5)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ROI estimate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workflow, or a small ROI bar (hours or $ saved) — show the change, don't just claim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 ·  Agent design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architecture, tools, and the step that needs AI judgment.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W7–W8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step needing AI judgment (why rules fail)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 architecture: goal, tools, where Reflect sits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set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SPAR loop (goal → plan → act → reflect). Architecture is far clearer drawn than described.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A6AB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9A6AB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  ·  Agent governance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governance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boundary, adversarial failure mode, and guardrails.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W9–W10 · Lab 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boundary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consequential adversarial failure (from Lab 3)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guardrails before go-live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table of your three adversarial tests (input → result → guardrail), or a human-in-the-loop decision flow.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 ·  Three-phase roadmap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Three-phase roadmap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→ Automate → Orchestrate over the horizon you set.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Stabilise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Automate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Orchestrate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timeframe for each phase — and why it fits your company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timeline / roadmap band over the horizon you choose — the single most expected visual on a board deck.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 ·  Value / cost / risk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/ cost / risk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phase: investment estimate, key risks, and success metrics.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 · Lab 4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45920"/>
                <a:gridCol w="155448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Timeframe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 (est.)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risks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706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57068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6A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table, or turn it into a phased value-vs-investment chart if that argues harder.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 ·  Human-AI partnership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Human-AI partnership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transition, reskilling, ethics, and the governance model.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that change / roles created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Reskilling approach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model + ethical commitments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before/after of roles, or a simple reskilling flow — people changes read better as a picture.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NYU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TANDON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966960" y="256032"/>
            <a:ext cx="1783080" cy="384048"/>
          </a:xfrm>
          <a:prstGeom prst="roundRect">
            <a:avLst>
              <a:gd name="adj" fmla="val 47619"/>
            </a:avLst>
          </a:prstGeom>
          <a:solidFill>
            <a:srgbClr val="6B2FA0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2560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64190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  ·  The ask / close</a:t>
            </a:r>
            <a:pPr algn="l" indent="0" marL="0">
              <a:buNone/>
            </a:pPr>
            <a:r>
              <a:rPr lang="en-US" sz="1000" b="1" dirty="0">
                <a:solidFill>
                  <a:srgbClr val="9A6A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Memo §1 / §6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0" y="6419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IE-GY 9113B · Board Presentation Template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11338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/ close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1247120" cy="0"/>
          </a:xfrm>
          <a:prstGeom prst="line">
            <a:avLst/>
          </a:prstGeom>
          <a:noFill/>
          <a:ln w="19050">
            <a:solidFill>
              <a:srgbClr val="9A6A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decision requested of the board.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49640" y="2240280"/>
            <a:ext cx="3200400" cy="3063240"/>
          </a:xfrm>
          <a:prstGeom prst="rect">
            <a:avLst/>
          </a:prstGeom>
          <a:solidFill>
            <a:srgbClr val="EFE7F5"/>
          </a:solidFill>
          <a:ln w="12700">
            <a:solidFill>
              <a:srgbClr val="9A6A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2240280"/>
            <a:ext cx="73152" cy="3063240"/>
          </a:xfrm>
          <a:prstGeom prst="rect">
            <a:avLst/>
          </a:prstGeom>
          <a:solidFill>
            <a:srgbClr val="57068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4688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BY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W11+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BACKS MEMO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 / §6
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spc="100" kern="0" dirty="0">
                <a:solidFill>
                  <a:srgbClr val="5706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decision requested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investment figure</a:t>
            </a:r>
            <a:endParaRPr lang="en-US" sz="1600" dirty="0"/>
          </a:p>
          <a:p>
            <a:pPr algn="l"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you want the board to remember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7772400" cy="841248"/>
          </a:xfrm>
          <a:prstGeom prst="roundRect">
            <a:avLst>
              <a:gd name="adj" fmla="val 6522"/>
            </a:avLst>
          </a:prstGeom>
          <a:solidFill>
            <a:srgbClr val="F3ECF9"/>
          </a:solidFill>
          <a:ln w="9525">
            <a:solidFill>
              <a:srgbClr val="9A6A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09160"/>
            <a:ext cx="64008" cy="841248"/>
          </a:xfrm>
          <a:prstGeom prst="rect">
            <a:avLst/>
          </a:prstGeom>
          <a:solidFill>
            <a:srgbClr val="6B2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7640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100" kern="0" dirty="0">
                <a:solidFill>
                  <a:srgbClr val="6B2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VISUAL IDEA   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on one image or one number — the single thing you want the board to remember. Never bullets.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623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the points to make — show them however lands best: a diagram, chart, image, or a few words. Be creative.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 — Template</dc:title>
  <dc:subject>Built against Syllabus Rev25 (internal staleness tracking; not shown to students)</dc:subject>
  <dc:creator>IE-GY 9113B</dc:creator>
  <cp:lastModifiedBy>IE-GY 9113B</cp:lastModifiedBy>
  <cp:revision>1</cp:revision>
  <dcterms:created xsi:type="dcterms:W3CDTF">2026-09-14T13:48:42Z</dcterms:created>
  <dcterms:modified xsi:type="dcterms:W3CDTF">2026-09-14T13:48:42Z</dcterms:modified>
</cp:coreProperties>
</file>