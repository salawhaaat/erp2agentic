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3e67d2d64f4206" /><Relationship Type="http://schemas.openxmlformats.org/officeDocument/2006/relationships/extended-properties" Target="/docProps/app.xml" Id="Rd517d165672d4934" /><Relationship Type="http://schemas.openxmlformats.org/officeDocument/2006/relationships/officeDocument" Target="/ppt/presentation.xml" Id="R6661af44853a4970" /></Relationships>
</file>

<file path=ppt/presentation.xml><?xml version="1.0" encoding="utf-8"?>
<p:presentation xmlns:p="http://schemas.openxmlformats.org/presentationml/2006/main">
  <p:sldMasterIdLst>
    <p:sldMasterId xmlns:r="http://schemas.openxmlformats.org/officeDocument/2006/relationships" id="2147483648" r:id="R0684f873bc3344c2"/>
  </p:sldMasterIdLst>
  <p:notesMasterIdLst>
    <p:notesMasterId xmlns:r="http://schemas.openxmlformats.org/officeDocument/2006/relationships" r:id="R5f88e43e450d4466"/>
  </p:notesMasterIdLst>
  <p:sldIdLst>
    <p:sldId xmlns:r="http://schemas.openxmlformats.org/officeDocument/2006/relationships" id="256" r:id="R9ae583a992a046e3"/>
    <p:sldId xmlns:r="http://schemas.openxmlformats.org/officeDocument/2006/relationships" id="257" r:id="Rb1d72ab91aee41d4"/>
    <p:sldId xmlns:r="http://schemas.openxmlformats.org/officeDocument/2006/relationships" id="258" r:id="R86659386002847d9"/>
    <p:sldId xmlns:r="http://schemas.openxmlformats.org/officeDocument/2006/relationships" id="259" r:id="Rd9dc91165659449b"/>
    <p:sldId xmlns:r="http://schemas.openxmlformats.org/officeDocument/2006/relationships" id="260" r:id="R5851afadf6a04d3b"/>
    <p:sldId xmlns:r="http://schemas.openxmlformats.org/officeDocument/2006/relationships" id="261" r:id="Reaa704b636b8421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15a8d03ff5645ec" /><Relationship Type="http://schemas.openxmlformats.org/officeDocument/2006/relationships/slideMaster" Target="/ppt/slideMasters/slideMaster1.xml" Id="R0684f873bc3344c2" /><Relationship Type="http://schemas.openxmlformats.org/officeDocument/2006/relationships/notesMaster" Target="/ppt/notesMasters/notesMaster1.xml" Id="R5f88e43e450d4466" /><Relationship Type="http://schemas.openxmlformats.org/officeDocument/2006/relationships/presProps" Target="/ppt/presProps.xml" Id="Ra6e80da65e114418" /><Relationship Type="http://schemas.openxmlformats.org/officeDocument/2006/relationships/viewProps" Target="/ppt/viewProps.xml" Id="R3fd04d78c85c4d69" /><Relationship Type="http://schemas.openxmlformats.org/officeDocument/2006/relationships/tableStyles" Target="/ppt/tableStyles.xml" Id="Rf6758c882d1a4dba" /><Relationship Type="http://schemas.openxmlformats.org/officeDocument/2006/relationships/slide" Target="/ppt/slides/slide1.xml" Id="R9ae583a992a046e3" /><Relationship Type="http://schemas.openxmlformats.org/officeDocument/2006/relationships/slide" Target="/ppt/slides/slide2.xml" Id="Rb1d72ab91aee41d4" /><Relationship Type="http://schemas.openxmlformats.org/officeDocument/2006/relationships/slide" Target="/ppt/slides/slide3.xml" Id="R86659386002847d9" /><Relationship Type="http://schemas.openxmlformats.org/officeDocument/2006/relationships/slide" Target="/ppt/slides/slide4.xml" Id="Rd9dc91165659449b" /><Relationship Type="http://schemas.openxmlformats.org/officeDocument/2006/relationships/slide" Target="/ppt/slides/slide5.xml" Id="R5851afadf6a04d3b" /><Relationship Type="http://schemas.openxmlformats.org/officeDocument/2006/relationships/slide" Target="/ppt/slides/slide6.xml" Id="Reaa704b636b842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f6bb2512714a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259bc9a60549e5" /><Relationship Type="http://schemas.openxmlformats.org/officeDocument/2006/relationships/notesMaster" Target="/ppt/notesMasters/notesMaster1.xml" Id="R3adab735f21c4c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8edbce43734997" /><Relationship Type="http://schemas.openxmlformats.org/officeDocument/2006/relationships/notesMaster" Target="/ppt/notesMasters/notesMaster1.xml" Id="Ra1ed790e84e443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f0f6df80ed4aa5" /><Relationship Type="http://schemas.openxmlformats.org/officeDocument/2006/relationships/notesMaster" Target="/ppt/notesMasters/notesMaster1.xml" Id="Ra8606b0388284e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a082e88d2f4ae0" /><Relationship Type="http://schemas.openxmlformats.org/officeDocument/2006/relationships/notesMaster" Target="/ppt/notesMasters/notesMaster1.xml" Id="R89df495bc0f94f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f90cfcf680439f" /><Relationship Type="http://schemas.openxmlformats.org/officeDocument/2006/relationships/notesMaster" Target="/ppt/notesMasters/notesMaster1.xml" Id="Re9073b8a53414a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277ae1bdeb4a0a" /><Relationship Type="http://schemas.openxmlformats.org/officeDocument/2006/relationships/notesMaster" Target="/ppt/notesMasters/notesMaster1.xml" Id="Rc8a2d39b07f743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excerpt in the supplied course template. S3-S5 retain the prior diagnosis. S6-S7 now contain observed live Make results. No coursework submitted.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Source: Backbone-Context-Note-Sweetgreen.pdf and Context-and-Diagnosis-Brief-Sweetgreen.pdf, plus the original Order and Payment map. This is a functional project hypothesis, not a verified description of Sweetgreen internal applications. Our operations thread follows the order specification through kitchen feasibility and recovery.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Source: Sweetgreen_Lab1_Gemini_Sandbox.xlsx. Six synthetic exceptions consume 60 modeled recovery minutes at $0.40/minute ($24) plus $20 refunds, total $44. They total 112 late-ready order-minutes, mean 18.7. The sample is seeded and is not a population estimate. We do not count waste from partial preparation because the mapped availability check precedes preparation.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Source: original Order and Payment diagram and Lab 1 annotated map. This is a condensed map for presentation; the full map retains rejection, quality, payment-captured and escalation routes. CP1 records accepted items and promise, CP2 the issue, CP3 customer-approved changes, CP4 collection, CP5 cancellation and capture state, CP6 refund or void outcome. Marker 1 is the correction/remake loop, marker 2 D2, marker 3 D3. The remediation-loop cost itself remains unmeasured. A quality mismatch loops to correction and recheck in the full map.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supplied the process map, diagnosis and Gemini sandbox. Lab 2 prepared seven unique sample orders: H1 normal single item, H2 normal two items, B1 unavailable stock, B2 blocked re-entry, B3 missing availability, B4 stale source and B5 unmatched item. Seven was the chosen test count. B3-B5 are additional Lab 2 test mutations. Five modules: Search Rows, Router, and three Google Sheets Add a Row modules. Current run THREE_OUTCOMES_01, rule three-outcomes-v3, on 6 October 2026 at 22:39:07-08 UTC. AutoActions rows 25-31: H1/H2 APPROVE, B1/B2 STAFF_REVIEW, B3/B4/B5 DATA_REVIEW. Approval requires current_available=1, NEW status, prior_exception=0, positive line_count equal to matched_line_count, KITCHEN source, and present source_age_min in 0-60. Staff route matches current_available text 0 OR BLOCKED status OR prior_exception text 1. Remaining cases use DATA_REVIEW fallback. Operational flags take priority over concurrent data issues. Input test_group matches ^(HAPPY|BREAK)$ with limit 7. AutoActions contains 30 outputs across repeated tests, not 30 unique orders. Historical naive tests approved four problem cases and silently dropped B3. Adding a Router alone did not fix the rules. Guarded-v2 caught all five as REVIEW before the current split. Writes are audit recommendations and proposed roles, not notifications or completed work. Partial CP2 logging is implemented. D3 recovery and CP3 consent remain human. Scenario inactive. Frozen historical data, illustrative 60-minute threshold. Live feed, duplicate protection and review closure remain future work. ROI assumptions: 660 orders/month,20% exceptions,45 seconds manual,10 seconds routine,15 extra seconds per exception,10 minutes recovery retained,$24/hour,4 build hours,1 maintenance hour/month,$0 classroom license. Baseline $726,after labor $616,upkeep $24,capacity value $86/month,build $96,payback1.12months. Re-estimate actual build effort. Sources: W06_Lab2_Automate_StudyNote_v1.pdf; Lab 1 Gemini sandbox; https://us2.make.com/3120988/scenarios/6536204/edit ; https://docs.google.com/spreadsheets/d/1chr9ntqh-wlb9ISlzznErcPFoL6J1Jox-j0NSWImkP0/edit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1 supplied the process map, diagnosis and Gemini sandbox. Lab 2 prepared seven unique sample orders: H1 normal single item, H2 normal two items, B1 unavailable stock, B2 blocked re-entry, B3 missing availability, B4 stale source and B5 unmatched item. Seven was the chosen test count. B3-B5 are additional Lab 2 test mutations. Five modules: Search Rows, Router, and three Google Sheets Add a Row modules. Current run THREE_OUTCOMES_01, rule three-outcomes-v3, on 6 October 2026 at 22:39:07-08 UTC. AutoActions rows 25-31: H1/H2 APPROVE, B1/B2 STAFF_REVIEW, B3/B4/B5 DATA_REVIEW. Approval requires current_available=1, NEW status, prior_exception=0, positive line_count equal to matched_line_count, KITCHEN source, and present source_age_min in 0-60. Staff route matches current_available text 0 OR BLOCKED status OR prior_exception text 1. Remaining cases use DATA_REVIEW fallback. Operational flags take priority over concurrent data issues. Input test_group matches ^(HAPPY|BREAK)$ with limit 7. AutoActions contains 30 outputs across repeated tests, not 30 unique orders. Historical naive tests approved four problem cases and silently dropped B3. Adding a Router alone did not fix the rules. Guarded-v2 caught all five as REVIEW before the current split. Writes are audit recommendations and proposed roles, not notifications or completed work. Partial CP2 logging is implemented. D3 recovery and CP3 consent remain human. Scenario inactive. Frozen historical data, illustrative 60-minute threshold. Live feed, duplicate protection and review closure remain future work. ROI assumptions: 660 orders/month,20% exceptions,45 seconds manual,10 seconds routine,15 extra seconds per exception,10 minutes recovery retained,$24/hour,4 build hours,1 maintenance hour/month,$0 classroom license. Baseline $726,after labor $616,upkeep $24,capacity value $86/month,build $96,payback1.12months. Re-estimate actual build effort. Sources: W06_Lab2_Automate_StudyNote_v1.pdf; Lab 1 Gemini sandbox; https://us2.make.com/3120988/scenarios/6536204/edit ; https://docs.google.com/spreadsheets/d/1chr9ntqh-wlb9ISlzznErcPFoL6J1Jox-j0NSWImkP0/edit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7a13c37655498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dc4ff74416463f" /><Relationship Type="http://schemas.openxmlformats.org/officeDocument/2006/relationships/slideLayout" Target="/ppt/slideLayouts/slideLayout1.xml" Id="Rb660418b02b140f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60418b02b140f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797b66a70640f6" /><Relationship Type="http://schemas.openxmlformats.org/officeDocument/2006/relationships/notesSlide" Target="/ppt/notesSlides/notesSlide1.xml" Id="Re6190ebe674941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a42aa29d704d03" /><Relationship Type="http://schemas.openxmlformats.org/officeDocument/2006/relationships/notesSlide" Target="/ppt/notesSlides/notesSlide2.xml" Id="Rd650d50488d046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238e5d48364906" /><Relationship Type="http://schemas.openxmlformats.org/officeDocument/2006/relationships/notesSlide" Target="/ppt/notesSlides/notesSlide3.xml" Id="R1665aa0b882e46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5f77518dfd400d" /><Relationship Type="http://schemas.openxmlformats.org/officeDocument/2006/relationships/notesSlide" Target="/ppt/notesSlides/notesSlide4.xml" Id="R38c4df1f0b4f47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cf442ee8994a5c" /><Relationship Type="http://schemas.openxmlformats.org/officeDocument/2006/relationships/notesSlide" Target="/ppt/notesSlides/notesSlide5.xml" Id="R5c3481b3dea84c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19a90095c24af9" /><Relationship Type="http://schemas.openxmlformats.org/officeDocument/2006/relationships/image" Target="/ppt/media/image.jpeg" Id="R0fd7301a504b4e1f" /><Relationship Type="http://schemas.openxmlformats.org/officeDocument/2006/relationships/notesSlide" Target="/ppt/notesSlides/notesSlide6.xml" Id="R62ef731b8fae46a1" /></Relationships>
</file>

<file path=ppt/slides/slide1.xml><?xml version="1.0" encoding="utf-8"?>
<p:sld xmlns:p="http://schemas.openxmlformats.org/presentationml/2006/main">
  <p:cSld>
    <p:bg>
      <p:bgPr>
        <a:solidFill xmlns:a="http://schemas.openxmlformats.org/drawingml/2006/main">
          <a:srgbClr val="57068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E8DF3D3-CB38-4E0D-BA87-D7E20F910A4B}"/>
              </a:ext>
            </a:extLst>
          </p:cNvPr>
          <p:cNvSpPr>
            <a:spLocks xmlns:a="http://schemas.openxmlformats.org/drawingml/2006/main" noGrp="1"/>
          </p:cNvSpPr>
          <p:nvPr/>
        </p:nvSpPr>
        <p:spPr>
          <a:xfrm xmlns:a="http://schemas.openxmlformats.org/drawingml/2006/main">
            <a:off x="0" y="5074920"/>
            <a:ext cx="12191695" cy="1783080"/>
          </a:xfrm>
          <a:prstGeom xmlns:a="http://schemas.openxmlformats.org/drawingml/2006/main" prst="rect">
            <a:avLst/>
          </a:prstGeom>
          <a:solidFill xmlns:a="http://schemas.openxmlformats.org/drawingml/2006/main">
            <a:srgbClr val="FFFFFF"/>
          </a:solidFill>
        </p:spPr>
      </p:sp>
      <p:sp>
        <p:nvSpPr>
          <p:cNvPr id="3" name="Text 1">
            <a:extLst xmlns:a="http://schemas.openxmlformats.org/drawingml/2006/main">
              <a:ext uri="{FF2B5EF4-FFF2-40B4-BE49-F238E27FC236}">
                <a16:creationId xmlns:a16="http://schemas.microsoft.com/office/drawing/2014/main" id="{D164AC5A-0CC3-4118-8B7D-AE0F9DD9DB89}"/>
              </a:ext>
            </a:extLst>
          </p:cNvPr>
          <p:cNvSpPr>
            <a:spLocks xmlns:a="http://schemas.openxmlformats.org/drawingml/2006/main" noGrp="1"/>
          </p:cNvSpPr>
          <p:nvPr/>
        </p:nvSpPr>
        <p:spPr>
          <a:xfrm xmlns:a="http://schemas.openxmlformats.org/drawingml/2006/main">
            <a:off x="548640" y="457200"/>
            <a:ext cx="5486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Arial"/>
                <a:ea typeface="Arial"/>
                <a:cs typeface="Arial"/>
              </a:rPr>
              <a:t>NYU</a:t>
            </a:r>
            <a:r>
              <a:rPr sz="1500" b="1">
                <a:solidFill>
                  <a:srgbClr val="D8C7E8"/>
                </a:solidFill>
                <a:latin typeface="Arial"/>
                <a:ea typeface="Arial"/>
                <a:cs typeface="Arial"/>
              </a:rPr>
              <a:t> TANDON</a:t>
            </a:r>
            <a:endParaRPr sz="1500"/>
          </a:p>
        </p:txBody>
      </p:sp>
      <p:sp>
        <p:nvSpPr>
          <p:cNvPr id="4" name="Text 2">
            <a:extLst xmlns:a="http://schemas.openxmlformats.org/drawingml/2006/main">
              <a:ext uri="{FF2B5EF4-FFF2-40B4-BE49-F238E27FC236}">
                <a16:creationId xmlns:a16="http://schemas.microsoft.com/office/drawing/2014/main" id="{E2B8631C-9203-41A0-9536-87CE40E618ED}"/>
              </a:ext>
            </a:extLst>
          </p:cNvPr>
          <p:cNvSpPr>
            <a:spLocks xmlns:a="http://schemas.openxmlformats.org/drawingml/2006/main" noGrp="1"/>
          </p:cNvSpPr>
          <p:nvPr/>
        </p:nvSpPr>
        <p:spPr>
          <a:xfrm xmlns:a="http://schemas.openxmlformats.org/drawingml/2006/main">
            <a:off x="548640" y="914400"/>
            <a:ext cx="10972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a:solidFill>
                  <a:srgbClr val="D8C7E8"/>
                </a:solidFill>
                <a:latin typeface="Arial"/>
                <a:ea typeface="Arial"/>
                <a:cs typeface="Arial"/>
              </a:rPr>
              <a:t>IE-GY 9113B · Systems Integration: From ERP to Agentic AI</a:t>
            </a:r>
            <a:endParaRPr sz="1400"/>
          </a:p>
        </p:txBody>
      </p:sp>
      <p:sp>
        <p:nvSpPr>
          <p:cNvPr id="5" name="Text 3">
            <a:extLst xmlns:a="http://schemas.openxmlformats.org/drawingml/2006/main">
              <a:ext uri="{FF2B5EF4-FFF2-40B4-BE49-F238E27FC236}">
                <a16:creationId xmlns:a16="http://schemas.microsoft.com/office/drawing/2014/main" id="{E733DDD2-B832-448E-9874-AA9863056B07}"/>
              </a:ext>
            </a:extLst>
          </p:cNvPr>
          <p:cNvSpPr>
            <a:spLocks xmlns:a="http://schemas.openxmlformats.org/drawingml/2006/main" noGrp="1"/>
          </p:cNvSpPr>
          <p:nvPr/>
        </p:nvSpPr>
        <p:spPr>
          <a:xfrm xmlns:a="http://schemas.openxmlformats.org/drawingml/2006/main">
            <a:off x="548640" y="1828800"/>
            <a:ext cx="109728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800" b="1">
                <a:solidFill>
                  <a:srgbClr val="FFFFFF"/>
                </a:solidFill>
                <a:latin typeface="Arial"/>
                <a:ea typeface="Arial"/>
                <a:cs typeface="Arial"/>
              </a:rPr>
              <a:t>Sweetgreen</a:t>
            </a:r>
            <a:endParaRPr sz="4800"/>
          </a:p>
        </p:txBody>
      </p:sp>
      <p:sp>
        <p:nvSpPr>
          <p:cNvPr id="6" name="Text 4">
            <a:extLst xmlns:a="http://schemas.openxmlformats.org/drawingml/2006/main">
              <a:ext uri="{FF2B5EF4-FFF2-40B4-BE49-F238E27FC236}">
                <a16:creationId xmlns:a16="http://schemas.microsoft.com/office/drawing/2014/main" id="{EF69F946-36FD-4D57-B255-2C7B6B710297}"/>
              </a:ext>
            </a:extLst>
          </p:cNvPr>
          <p:cNvSpPr>
            <a:spLocks xmlns:a="http://schemas.openxmlformats.org/drawingml/2006/main" noGrp="1"/>
          </p:cNvSpPr>
          <p:nvPr/>
        </p:nvSpPr>
        <p:spPr>
          <a:xfrm xmlns:a="http://schemas.openxmlformats.org/drawingml/2006/main">
            <a:off x="548640" y="3017520"/>
            <a:ext cx="105156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200" i="1">
                <a:solidFill>
                  <a:srgbClr val="E7DAF2"/>
                </a:solidFill>
                <a:latin typeface="Arial"/>
                <a:ea typeface="Arial"/>
                <a:cs typeface="Arial"/>
              </a:rPr>
              <a:t>Reliable kitchen availability before automated order handling</a:t>
            </a:r>
            <a:endParaRPr sz="2200"/>
          </a:p>
        </p:txBody>
      </p:sp>
      <p:sp>
        <p:nvSpPr>
          <p:cNvPr id="7" name="Text 5">
            <a:extLst xmlns:a="http://schemas.openxmlformats.org/drawingml/2006/main">
              <a:ext uri="{FF2B5EF4-FFF2-40B4-BE49-F238E27FC236}">
                <a16:creationId xmlns:a16="http://schemas.microsoft.com/office/drawing/2014/main" id="{AAB71D22-3F5A-402C-850C-D3D3629634E3}"/>
              </a:ext>
            </a:extLst>
          </p:cNvPr>
          <p:cNvSpPr>
            <a:spLocks xmlns:a="http://schemas.openxmlformats.org/drawingml/2006/main" noGrp="1"/>
          </p:cNvSpPr>
          <p:nvPr/>
        </p:nvSpPr>
        <p:spPr>
          <a:xfrm xmlns:a="http://schemas.openxmlformats.org/drawingml/2006/main">
            <a:off x="548640" y="5440680"/>
            <a:ext cx="109728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57068C"/>
                </a:solidFill>
                <a:latin typeface="Arial"/>
                <a:ea typeface="Arial"/>
                <a:cs typeface="Arial"/>
              </a:rPr>
              <a:t>Lab 2 live tests     6 October 2026</a:t>
            </a:r>
            <a:endParaRPr sz="1800"/>
          </a:p>
        </p:txBody>
      </p:sp>
      <p:sp>
        <p:nvSpPr>
          <p:cNvPr id="8" name="Text 6">
            <a:extLst xmlns:a="http://schemas.openxmlformats.org/drawingml/2006/main">
              <a:ext uri="{FF2B5EF4-FFF2-40B4-BE49-F238E27FC236}">
                <a16:creationId xmlns:a16="http://schemas.microsoft.com/office/drawing/2014/main" id="{A16C7DBF-BCCF-46DD-86FD-07F58B696B05}"/>
              </a:ext>
            </a:extLst>
          </p:cNvPr>
          <p:cNvSpPr>
            <a:spLocks xmlns:a="http://schemas.openxmlformats.org/drawingml/2006/main" noGrp="1"/>
          </p:cNvSpPr>
          <p:nvPr/>
        </p:nvSpPr>
        <p:spPr>
          <a:xfrm xmlns:a="http://schemas.openxmlformats.org/drawingml/2006/main">
            <a:off x="548640" y="6126480"/>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a:solidFill>
                  <a:srgbClr val="5A5A5A"/>
                </a:solidFill>
                <a:latin typeface="Arial"/>
                <a:ea typeface="Arial"/>
                <a:cs typeface="Arial"/>
              </a:rPr>
              <a:t>Board presentation excerpt: S3–S7 | Make tests completed</a:t>
            </a:r>
            <a:endParaRPr sz="1100"/>
          </a:p>
        </p:txBody>
      </p:sp>
    </p:spTree>
    <p:extLst>
      <p:ext uri="{BB962C8B-B14F-4D97-AF65-F5344CB8AC3E}">
        <p14:creationId xmlns:p14="http://schemas.microsoft.com/office/powerpoint/2010/main" val="17268182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FDA9171-DCDD-476F-969A-7790362F56FC}"/>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57068C"/>
          </a:solidFill>
        </p:spPr>
      </p:sp>
      <p:sp>
        <p:nvSpPr>
          <p:cNvPr id="3" name="Text 1">
            <a:extLst xmlns:a="http://schemas.openxmlformats.org/drawingml/2006/main">
              <a:ext uri="{FF2B5EF4-FFF2-40B4-BE49-F238E27FC236}">
                <a16:creationId xmlns:a16="http://schemas.microsoft.com/office/drawing/2014/main" id="{FFCB526A-74AD-4227-BE2C-9A675C14F3C3}"/>
              </a:ext>
            </a:extLst>
          </p:cNvPr>
          <p:cNvSpPr>
            <a:spLocks xmlns:a="http://schemas.openxmlformats.org/drawingml/2006/main" noGrp="1"/>
          </p:cNvSpPr>
          <p:nvPr/>
        </p:nvSpPr>
        <p:spPr>
          <a:xfrm xmlns:a="http://schemas.openxmlformats.org/drawingml/2006/main">
            <a:off x="411480" y="256032"/>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b="1">
                <a:solidFill>
                  <a:srgbClr val="57068C"/>
                </a:solidFill>
                <a:latin typeface="Arial"/>
                <a:ea typeface="Arial"/>
                <a:cs typeface="Arial"/>
              </a:rPr>
              <a:t>NYU</a:t>
            </a:r>
            <a:r>
              <a:rPr sz="1300" b="1">
                <a:solidFill>
                  <a:srgbClr val="333333"/>
                </a:solidFill>
                <a:latin typeface="Arial"/>
                <a:ea typeface="Arial"/>
                <a:cs typeface="Arial"/>
              </a:rPr>
              <a:t> TANDON</a:t>
            </a:r>
            <a:endParaRPr sz="1300"/>
          </a:p>
        </p:txBody>
      </p:sp>
      <p:sp>
        <p:nvSpPr>
          <p:cNvPr id="4" name="Shape 2">
            <a:extLst xmlns:a="http://schemas.openxmlformats.org/drawingml/2006/main">
              <a:ext uri="{FF2B5EF4-FFF2-40B4-BE49-F238E27FC236}">
                <a16:creationId xmlns:a16="http://schemas.microsoft.com/office/drawing/2014/main" id="{8D084FC5-7998-490D-A8B1-0A76794480B7}"/>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oundRect">
            <a:avLst>
              <a:gd name="adj" fmla="val 47619"/>
            </a:avLst>
          </a:prstGeom>
          <a:solidFill xmlns:a="http://schemas.openxmlformats.org/drawingml/2006/main">
            <a:srgbClr val="57068C"/>
          </a:solidFill>
        </p:spPr>
      </p:sp>
      <p:sp>
        <p:nvSpPr>
          <p:cNvPr id="5" name="Text 3">
            <a:extLst xmlns:a="http://schemas.openxmlformats.org/drawingml/2006/main">
              <a:ext uri="{FF2B5EF4-FFF2-40B4-BE49-F238E27FC236}">
                <a16:creationId xmlns:a16="http://schemas.microsoft.com/office/drawing/2014/main" id="{25E4716E-8A64-4083-A0E5-A084A83F6760}"/>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spc="100">
                <a:solidFill>
                  <a:srgbClr val="FFFFFF"/>
                </a:solidFill>
                <a:latin typeface="Arial"/>
                <a:ea typeface="Arial"/>
                <a:cs typeface="Arial"/>
              </a:rPr>
              <a:t>DIAGNOSE</a:t>
            </a:r>
            <a:endParaRPr sz="1100"/>
          </a:p>
        </p:txBody>
      </p:sp>
      <p:sp>
        <p:nvSpPr>
          <p:cNvPr id="6" name="Text 4">
            <a:extLst xmlns:a="http://schemas.openxmlformats.org/drawingml/2006/main">
              <a:ext uri="{FF2B5EF4-FFF2-40B4-BE49-F238E27FC236}">
                <a16:creationId xmlns:a16="http://schemas.microsoft.com/office/drawing/2014/main" id="{D7ADB677-6245-4E68-92F6-7DBE299224B6}"/>
              </a:ext>
            </a:extLst>
          </p:cNvPr>
          <p:cNvSpPr>
            <a:spLocks xmlns:a="http://schemas.openxmlformats.org/drawingml/2006/main" noGrp="1"/>
          </p:cNvSpPr>
          <p:nvPr/>
        </p:nvSpPr>
        <p:spPr>
          <a:xfrm xmlns:a="http://schemas.openxmlformats.org/drawingml/2006/main">
            <a:off x="411480" y="6419088"/>
            <a:ext cx="8686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5A5A5A"/>
                </a:solidFill>
                <a:latin typeface="Arial"/>
                <a:ea typeface="Arial"/>
                <a:cs typeface="Arial"/>
              </a:rPr>
              <a:t>S3  ·  Context &amp; backbone</a:t>
            </a:r>
            <a:r>
              <a:rPr sz="1000" b="1">
                <a:solidFill>
                  <a:srgbClr val="9A6ABA"/>
                </a:solidFill>
                <a:latin typeface="Arial"/>
                <a:ea typeface="Arial"/>
                <a:cs typeface="Arial"/>
              </a:rPr>
              <a:t>      Memo §2</a:t>
            </a:r>
            <a:endParaRPr sz="1000"/>
          </a:p>
        </p:txBody>
      </p:sp>
      <p:sp>
        <p:nvSpPr>
          <p:cNvPr id="7" name="Text 5">
            <a:extLst xmlns:a="http://schemas.openxmlformats.org/drawingml/2006/main">
              <a:ext uri="{FF2B5EF4-FFF2-40B4-BE49-F238E27FC236}">
                <a16:creationId xmlns:a16="http://schemas.microsoft.com/office/drawing/2014/main" id="{98D06A99-BA46-43F2-AD74-602C1F9A75D5}"/>
              </a:ext>
            </a:extLst>
          </p:cNvPr>
          <p:cNvSpPr>
            <a:spLocks xmlns:a="http://schemas.openxmlformats.org/drawingml/2006/main" noGrp="1"/>
          </p:cNvSpPr>
          <p:nvPr/>
        </p:nvSpPr>
        <p:spPr>
          <a:xfrm xmlns:a="http://schemas.openxmlformats.org/drawingml/2006/main">
            <a:off x="8046720" y="6419088"/>
            <a:ext cx="374904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r">
              <a:buNone/>
              <a:defRPr sz="975">
                <a:solidFill>
                  <a:srgbClr val="505050"/>
                </a:solidFill>
                <a:latin typeface="Arial"/>
                <a:ea typeface="Arial"/>
                <a:cs typeface="Arial"/>
              </a:defRPr>
            </a:pPr>
            <a:r>
              <a:rPr sz="975">
                <a:solidFill>
                  <a:srgbClr val="505050"/>
                </a:solidFill>
                <a:latin typeface="Arial"/>
                <a:ea typeface="Arial"/>
                <a:cs typeface="Arial"/>
              </a:rPr>
              <a:t>IE-GY 9113B · Sweetgreen · Lab 2</a:t>
            </a:r>
            <a:endParaRPr sz="900"/>
          </a:p>
        </p:txBody>
      </p:sp>
      <p:sp>
        <p:nvSpPr>
          <p:cNvPr id="8" name="Text 6">
            <a:extLst xmlns:a="http://schemas.openxmlformats.org/drawingml/2006/main">
              <a:ext uri="{FF2B5EF4-FFF2-40B4-BE49-F238E27FC236}">
                <a16:creationId xmlns:a16="http://schemas.microsoft.com/office/drawing/2014/main" id="{AEC86C8C-27F3-465E-B425-EBC78AACDD1D}"/>
              </a:ext>
            </a:extLst>
          </p:cNvPr>
          <p:cNvSpPr>
            <a:spLocks xmlns:a="http://schemas.openxmlformats.org/drawingml/2006/main" noGrp="1"/>
          </p:cNvSpPr>
          <p:nvPr/>
        </p:nvSpPr>
        <p:spPr>
          <a:xfrm xmlns:a="http://schemas.openxmlformats.org/drawingml/2006/main">
            <a:off x="411480" y="868680"/>
            <a:ext cx="113385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57068C"/>
                </a:solidFill>
                <a:latin typeface="Arial"/>
                <a:ea typeface="Arial"/>
                <a:cs typeface="Arial"/>
              </a:rPr>
              <a:t>Context &amp; backbone</a:t>
            </a:r>
            <a:endParaRPr sz="3000"/>
          </a:p>
        </p:txBody>
      </p:sp>
      <p:sp>
        <p:nvSpPr>
          <p:cNvPr id="9" name="Shape 7">
            <a:extLst xmlns:a="http://schemas.openxmlformats.org/drawingml/2006/main">
              <a:ext uri="{FF2B5EF4-FFF2-40B4-BE49-F238E27FC236}">
                <a16:creationId xmlns:a16="http://schemas.microsoft.com/office/drawing/2014/main" id="{497162EB-E2B9-4D81-8BD1-F76EDCE181C2}"/>
              </a:ext>
            </a:extLst>
          </p:cNvPr>
          <p:cNvSpPr>
            <a:spLocks xmlns:a="http://schemas.openxmlformats.org/drawingml/2006/main" noGrp="1"/>
          </p:cNvSpPr>
          <p:nvPr/>
        </p:nvSpPr>
        <p:spPr>
          <a:xfrm xmlns:a="http://schemas.openxmlformats.org/drawingml/2006/main">
            <a:off x="457200" y="1600200"/>
            <a:ext cx="11247120" cy="0"/>
          </a:xfrm>
          <a:prstGeom xmlns:a="http://schemas.openxmlformats.org/drawingml/2006/main" prst="line">
            <a:avLst/>
          </a:prstGeom>
          <a:noFill xmlns:a="http://schemas.openxmlformats.org/drawingml/2006/main"/>
          <a:ln xmlns:a="http://schemas.openxmlformats.org/drawingml/2006/main" w="19050">
            <a:solidFill>
              <a:srgbClr val="9A6ABA"/>
            </a:solidFill>
            <a:prstDash val="solid"/>
          </a:ln>
        </p:spPr>
      </p:sp>
      <p:sp>
        <p:nvSpPr>
          <p:cNvPr id="10" name="Text 8">
            <a:extLst xmlns:a="http://schemas.openxmlformats.org/drawingml/2006/main">
              <a:ext uri="{FF2B5EF4-FFF2-40B4-BE49-F238E27FC236}">
                <a16:creationId xmlns:a16="http://schemas.microsoft.com/office/drawing/2014/main" id="{B3D39CEF-880C-473B-9DE6-0D0C8D6AB909}"/>
              </a:ext>
            </a:extLst>
          </p:cNvPr>
          <p:cNvSpPr>
            <a:spLocks xmlns:a="http://schemas.openxmlformats.org/drawingml/2006/main" noGrp="1"/>
          </p:cNvSpPr>
          <p:nvPr/>
        </p:nvSpPr>
        <p:spPr>
          <a:xfrm xmlns:a="http://schemas.openxmlformats.org/drawingml/2006/main">
            <a:off x="457200" y="1691640"/>
            <a:ext cx="11155680" cy="4572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buNone/>
              <a:defRPr sz="1650">
                <a:solidFill>
                  <a:srgbClr val="505050"/>
                </a:solidFill>
                <a:latin typeface="Arial"/>
                <a:ea typeface="Arial"/>
                <a:cs typeface="Arial"/>
              </a:defRPr>
            </a:pPr>
            <a:r>
              <a:rPr sz="1650" i="1">
                <a:solidFill>
                  <a:srgbClr val="505050"/>
                </a:solidFill>
                <a:latin typeface="Arial"/>
                <a:ea typeface="Arial"/>
                <a:cs typeface="Arial"/>
              </a:rPr>
              <a:t>Order-to-pickup reliability is the primary operations thread.</a:t>
            </a:r>
            <a:endParaRPr sz="1500"/>
          </a:p>
        </p:txBody>
      </p:sp>
      <p:sp>
        <p:nvSpPr>
          <p:cNvPr id="11" name="Shape 9">
            <a:extLst xmlns:a="http://schemas.openxmlformats.org/drawingml/2006/main">
              <a:ext uri="{FF2B5EF4-FFF2-40B4-BE49-F238E27FC236}">
                <a16:creationId xmlns:a16="http://schemas.microsoft.com/office/drawing/2014/main" id="{EA0E2FFB-7DF2-48CF-A377-FC69C67A2D3C}"/>
              </a:ext>
            </a:extLst>
          </p:cNvPr>
          <p:cNvSpPr>
            <a:spLocks xmlns:a="http://schemas.openxmlformats.org/drawingml/2006/main" noGrp="1"/>
          </p:cNvSpPr>
          <p:nvPr/>
        </p:nvSpPr>
        <p:spPr>
          <a:xfrm xmlns:a="http://schemas.openxmlformats.org/drawingml/2006/main">
            <a:off x="8549640" y="2240280"/>
            <a:ext cx="3200400" cy="3063240"/>
          </a:xfrm>
          <a:prstGeom xmlns:a="http://schemas.openxmlformats.org/drawingml/2006/main" prst="rect">
            <a:avLst/>
          </a:prstGeom>
          <a:solidFill xmlns:a="http://schemas.openxmlformats.org/drawingml/2006/main">
            <a:srgbClr val="EFE7F5"/>
          </a:solidFill>
          <a:ln xmlns:a="http://schemas.openxmlformats.org/drawingml/2006/main" w="12700">
            <a:solidFill>
              <a:srgbClr val="9A6ABA"/>
            </a:solidFill>
            <a:prstDash val="solid"/>
          </a:ln>
        </p:spPr>
      </p:sp>
      <p:sp>
        <p:nvSpPr>
          <p:cNvPr id="12" name="Shape 10">
            <a:extLst xmlns:a="http://schemas.openxmlformats.org/drawingml/2006/main">
              <a:ext uri="{FF2B5EF4-FFF2-40B4-BE49-F238E27FC236}">
                <a16:creationId xmlns:a16="http://schemas.microsoft.com/office/drawing/2014/main" id="{B6B28699-D988-4445-AEC6-27176BCFCDF6}"/>
              </a:ext>
            </a:extLst>
          </p:cNvPr>
          <p:cNvSpPr>
            <a:spLocks xmlns:a="http://schemas.openxmlformats.org/drawingml/2006/main" noGrp="1"/>
          </p:cNvSpPr>
          <p:nvPr/>
        </p:nvSpPr>
        <p:spPr>
          <a:xfrm xmlns:a="http://schemas.openxmlformats.org/drawingml/2006/main">
            <a:off x="8549640" y="2240280"/>
            <a:ext cx="73152" cy="3063240"/>
          </a:xfrm>
          <a:prstGeom xmlns:a="http://schemas.openxmlformats.org/drawingml/2006/main" prst="rect">
            <a:avLst/>
          </a:prstGeom>
          <a:solidFill xmlns:a="http://schemas.openxmlformats.org/drawingml/2006/main">
            <a:srgbClr val="57068C"/>
          </a:solidFill>
        </p:spPr>
      </p:sp>
      <p:sp>
        <p:nvSpPr>
          <p:cNvPr id="13" name="Text 11">
            <a:extLst xmlns:a="http://schemas.openxmlformats.org/drawingml/2006/main">
              <a:ext uri="{FF2B5EF4-FFF2-40B4-BE49-F238E27FC236}">
                <a16:creationId xmlns:a16="http://schemas.microsoft.com/office/drawing/2014/main" id="{024E68E5-BE7C-4917-8881-D84BA8E11AD9}"/>
              </a:ext>
            </a:extLst>
          </p:cNvPr>
          <p:cNvSpPr>
            <a:spLocks xmlns:a="http://schemas.openxmlformats.org/drawingml/2006/main" noGrp="1"/>
          </p:cNvSpPr>
          <p:nvPr/>
        </p:nvSpPr>
        <p:spPr>
          <a:xfrm xmlns:a="http://schemas.openxmlformats.org/drawingml/2006/main">
            <a:off x="8778240" y="2468880"/>
            <a:ext cx="2743200" cy="26517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PROJECT SCOPE</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Order to pickup</a:t>
            </a:r>
            <a:endParaRPr sz="1200"/>
          </a:p>
          <a:p xmlns:a="http://schemas.openxmlformats.org/drawingml/2006/main">
            <a:pPr marL="0" indent="0" algn="l">
              <a:lnSpc>
                <a:spcPct val="105000"/>
              </a:lnSpc>
              <a:buNone/>
            </a:pPr>
            <a:r>
              <a:rPr sz="1200" b="1" spc="100">
                <a:solidFill>
                  <a:srgbClr val="57068C"/>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MODEL BASIS</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Functional hypothesis</a:t>
            </a:r>
            <a:endParaRPr sz="1200"/>
          </a:p>
          <a:p xmlns:a="http://schemas.openxmlformats.org/drawingml/2006/main">
            <a:pPr marL="0" indent="0" algn="l">
              <a:lnSpc>
                <a:spcPct val="105000"/>
              </a:lnSpc>
              <a:buNone/>
            </a:pPr>
            <a:r>
              <a:rPr sz="1300">
                <a:solidFill>
                  <a:srgbClr val="333333"/>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EVIDENCE</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Synthetic sandbox</a:t>
            </a:r>
            <a:endParaRPr sz="1200"/>
          </a:p>
        </p:txBody>
      </p:sp>
      <p:sp>
        <p:nvSpPr>
          <p:cNvPr id="14" name="Text 12">
            <a:extLst xmlns:a="http://schemas.openxmlformats.org/drawingml/2006/main">
              <a:ext uri="{FF2B5EF4-FFF2-40B4-BE49-F238E27FC236}">
                <a16:creationId xmlns:a16="http://schemas.microsoft.com/office/drawing/2014/main" id="{C410F40C-36C3-4529-AAB7-C46F4C87F1C6}"/>
              </a:ext>
            </a:extLst>
          </p:cNvPr>
          <p:cNvSpPr>
            <a:spLocks xmlns:a="http://schemas.openxmlformats.org/drawingml/2006/main" noGrp="1"/>
          </p:cNvSpPr>
          <p:nvPr/>
        </p:nvSpPr>
        <p:spPr>
          <a:xfrm xmlns:a="http://schemas.openxmlformats.org/drawingml/2006/main">
            <a:off x="457200" y="2286000"/>
            <a:ext cx="7772400" cy="2286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Order capture and payment establish the accepted specification.</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Kitchen availability determines whether staff can fulfill it.</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Customer recovery updates the order and payment records.</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Working archetype: common process, locally managed exceptions.</a:t>
            </a:r>
            <a:endParaRPr sz="1600"/>
          </a:p>
        </p:txBody>
      </p:sp>
      <p:sp>
        <p:nvSpPr>
          <p:cNvPr id="15" name="Shape 13">
            <a:extLst xmlns:a="http://schemas.openxmlformats.org/drawingml/2006/main">
              <a:ext uri="{FF2B5EF4-FFF2-40B4-BE49-F238E27FC236}">
                <a16:creationId xmlns:a16="http://schemas.microsoft.com/office/drawing/2014/main" id="{62A2FAC6-77BA-43C3-B19D-D455F41FEA35}"/>
              </a:ext>
            </a:extLst>
          </p:cNvPr>
          <p:cNvSpPr>
            <a:spLocks xmlns:a="http://schemas.openxmlformats.org/drawingml/2006/main" noGrp="1"/>
          </p:cNvSpPr>
          <p:nvPr/>
        </p:nvSpPr>
        <p:spPr>
          <a:xfrm xmlns:a="http://schemas.openxmlformats.org/drawingml/2006/main">
            <a:off x="457200" y="4709160"/>
            <a:ext cx="7772400" cy="841248"/>
          </a:xfrm>
          <a:prstGeom xmlns:a="http://schemas.openxmlformats.org/drawingml/2006/main" prst="roundRect">
            <a:avLst>
              <a:gd name="adj" fmla="val 6522"/>
            </a:avLst>
          </a:prstGeom>
          <a:solidFill xmlns:a="http://schemas.openxmlformats.org/drawingml/2006/main">
            <a:srgbClr val="F3ECF9"/>
          </a:solidFill>
          <a:ln xmlns:a="http://schemas.openxmlformats.org/drawingml/2006/main" w="9525">
            <a:solidFill>
              <a:srgbClr val="9A6ABA"/>
            </a:solidFill>
            <a:prstDash val="solid"/>
          </a:ln>
        </p:spPr>
      </p:sp>
      <p:sp>
        <p:nvSpPr>
          <p:cNvPr id="16" name="Shape 14">
            <a:extLst xmlns:a="http://schemas.openxmlformats.org/drawingml/2006/main">
              <a:ext uri="{FF2B5EF4-FFF2-40B4-BE49-F238E27FC236}">
                <a16:creationId xmlns:a16="http://schemas.microsoft.com/office/drawing/2014/main" id="{36D33CED-9F76-43C0-8D63-A779902500ED}"/>
              </a:ext>
            </a:extLst>
          </p:cNvPr>
          <p:cNvSpPr>
            <a:spLocks xmlns:a="http://schemas.openxmlformats.org/drawingml/2006/main" noGrp="1"/>
          </p:cNvSpPr>
          <p:nvPr/>
        </p:nvSpPr>
        <p:spPr>
          <a:xfrm xmlns:a="http://schemas.openxmlformats.org/drawingml/2006/main">
            <a:off x="457200" y="4709160"/>
            <a:ext cx="64008" cy="841248"/>
          </a:xfrm>
          <a:prstGeom xmlns:a="http://schemas.openxmlformats.org/drawingml/2006/main" prst="rect">
            <a:avLst/>
          </a:prstGeom>
          <a:solidFill xmlns:a="http://schemas.openxmlformats.org/drawingml/2006/main">
            <a:srgbClr val="6B2FA0"/>
          </a:solidFill>
        </p:spPr>
      </p:sp>
      <p:sp>
        <p:nvSpPr>
          <p:cNvPr id="17" name="Text 15">
            <a:extLst xmlns:a="http://schemas.openxmlformats.org/drawingml/2006/main">
              <a:ext uri="{FF2B5EF4-FFF2-40B4-BE49-F238E27FC236}">
                <a16:creationId xmlns:a16="http://schemas.microsoft.com/office/drawing/2014/main" id="{B89E5B98-F2D4-48F4-805E-D446158E2CA4}"/>
              </a:ext>
            </a:extLst>
          </p:cNvPr>
          <p:cNvSpPr>
            <a:spLocks xmlns:a="http://schemas.openxmlformats.org/drawingml/2006/main" noGrp="1"/>
          </p:cNvSpPr>
          <p:nvPr/>
        </p:nvSpPr>
        <p:spPr>
          <a:xfrm xmlns:a="http://schemas.openxmlformats.org/drawingml/2006/main">
            <a:off x="658368" y="4764024"/>
            <a:ext cx="7406640" cy="73152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lnSpc>
                <a:spcPct val="100000"/>
              </a:lnSpc>
              <a:buNone/>
              <a:defRPr sz="1425">
                <a:solidFill>
                  <a:srgbClr val="505050"/>
                </a:solidFill>
                <a:latin typeface="Arial"/>
                <a:ea typeface="Arial"/>
                <a:cs typeface="Arial"/>
              </a:defRPr>
            </a:pPr>
            <a:r>
              <a:rPr sz="1425" b="1" spc="100">
                <a:solidFill>
                  <a:srgbClr val="505050"/>
                </a:solidFill>
                <a:latin typeface="Arial"/>
                <a:ea typeface="Arial"/>
                <a:cs typeface="Arial"/>
              </a:rPr>
              <a:t>The handoff depends on shared order IDs, accepted item details and a trustworthy kitchen availability timestamp.</a:t>
            </a:r>
            <a:endParaRPr sz="1100"/>
          </a:p>
        </p:txBody>
      </p:sp>
      <p:sp>
        <p:nvSpPr>
          <p:cNvPr id="18" name="Text 16">
            <a:extLst xmlns:a="http://schemas.openxmlformats.org/drawingml/2006/main">
              <a:ext uri="{FF2B5EF4-FFF2-40B4-BE49-F238E27FC236}">
                <a16:creationId xmlns:a16="http://schemas.microsoft.com/office/drawing/2014/main" id="{7104AFA4-29F7-42DB-B918-ADFDE7A9A4BE}"/>
              </a:ext>
            </a:extLst>
          </p:cNvPr>
          <p:cNvSpPr>
            <a:spLocks xmlns:a="http://schemas.openxmlformats.org/drawingml/2006/main" noGrp="1"/>
          </p:cNvSpPr>
          <p:nvPr/>
        </p:nvSpPr>
        <p:spPr>
          <a:xfrm xmlns:a="http://schemas.openxmlformats.org/drawingml/2006/main">
            <a:off x="457200" y="5623560"/>
            <a:ext cx="777240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125">
                <a:solidFill>
                  <a:srgbClr val="505050"/>
                </a:solidFill>
                <a:latin typeface="Arial"/>
                <a:ea typeface="Arial"/>
                <a:cs typeface="Arial"/>
              </a:defRPr>
            </a:pPr>
            <a:r>
              <a:rPr sz="1125" i="1">
                <a:solidFill>
                  <a:srgbClr val="505050"/>
                </a:solidFill>
                <a:latin typeface="Arial"/>
                <a:ea typeface="Arial"/>
                <a:cs typeface="Arial"/>
              </a:rPr>
              <a:t>Architecture and operating-model claims require validation with restaurant staff.</a:t>
            </a:r>
            <a:endParaRPr sz="1100"/>
          </a:p>
        </p:txBody>
      </p:sp>
    </p:spTree>
    <p:extLst>
      <p:ext uri="{BB962C8B-B14F-4D97-AF65-F5344CB8AC3E}">
        <p14:creationId xmlns:p14="http://schemas.microsoft.com/office/powerpoint/2010/main" val="13365226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6E8A897-8A42-4710-AE1E-4D7CEA39AB39}"/>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57068C"/>
          </a:solidFill>
        </p:spPr>
      </p:sp>
      <p:sp>
        <p:nvSpPr>
          <p:cNvPr id="3" name="Text 1">
            <a:extLst xmlns:a="http://schemas.openxmlformats.org/drawingml/2006/main">
              <a:ext uri="{FF2B5EF4-FFF2-40B4-BE49-F238E27FC236}">
                <a16:creationId xmlns:a16="http://schemas.microsoft.com/office/drawing/2014/main" id="{FCA0D235-7FD9-4346-9640-61F93FDA35F6}"/>
              </a:ext>
            </a:extLst>
          </p:cNvPr>
          <p:cNvSpPr>
            <a:spLocks xmlns:a="http://schemas.openxmlformats.org/drawingml/2006/main" noGrp="1"/>
          </p:cNvSpPr>
          <p:nvPr/>
        </p:nvSpPr>
        <p:spPr>
          <a:xfrm xmlns:a="http://schemas.openxmlformats.org/drawingml/2006/main">
            <a:off x="411480" y="256032"/>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b="1">
                <a:solidFill>
                  <a:srgbClr val="57068C"/>
                </a:solidFill>
                <a:latin typeface="Arial"/>
                <a:ea typeface="Arial"/>
                <a:cs typeface="Arial"/>
              </a:rPr>
              <a:t>NYU</a:t>
            </a:r>
            <a:r>
              <a:rPr sz="1300" b="1">
                <a:solidFill>
                  <a:srgbClr val="333333"/>
                </a:solidFill>
                <a:latin typeface="Arial"/>
                <a:ea typeface="Arial"/>
                <a:cs typeface="Arial"/>
              </a:rPr>
              <a:t> TANDON</a:t>
            </a:r>
            <a:endParaRPr sz="1300"/>
          </a:p>
        </p:txBody>
      </p:sp>
      <p:sp>
        <p:nvSpPr>
          <p:cNvPr id="4" name="Shape 2">
            <a:extLst xmlns:a="http://schemas.openxmlformats.org/drawingml/2006/main">
              <a:ext uri="{FF2B5EF4-FFF2-40B4-BE49-F238E27FC236}">
                <a16:creationId xmlns:a16="http://schemas.microsoft.com/office/drawing/2014/main" id="{D3D356D7-0028-4F21-A703-548A58279641}"/>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oundRect">
            <a:avLst>
              <a:gd name="adj" fmla="val 47619"/>
            </a:avLst>
          </a:prstGeom>
          <a:solidFill xmlns:a="http://schemas.openxmlformats.org/drawingml/2006/main">
            <a:srgbClr val="57068C"/>
          </a:solidFill>
        </p:spPr>
      </p:sp>
      <p:sp>
        <p:nvSpPr>
          <p:cNvPr id="5" name="Text 3">
            <a:extLst xmlns:a="http://schemas.openxmlformats.org/drawingml/2006/main">
              <a:ext uri="{FF2B5EF4-FFF2-40B4-BE49-F238E27FC236}">
                <a16:creationId xmlns:a16="http://schemas.microsoft.com/office/drawing/2014/main" id="{AD7F91F3-39FF-4636-ABBC-3E287B2985E8}"/>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spc="100">
                <a:solidFill>
                  <a:srgbClr val="FFFFFF"/>
                </a:solidFill>
                <a:latin typeface="Arial"/>
                <a:ea typeface="Arial"/>
                <a:cs typeface="Arial"/>
              </a:rPr>
              <a:t>DIAGNOSE</a:t>
            </a:r>
            <a:endParaRPr sz="1100"/>
          </a:p>
        </p:txBody>
      </p:sp>
      <p:sp>
        <p:nvSpPr>
          <p:cNvPr id="6" name="Text 4">
            <a:extLst xmlns:a="http://schemas.openxmlformats.org/drawingml/2006/main">
              <a:ext uri="{FF2B5EF4-FFF2-40B4-BE49-F238E27FC236}">
                <a16:creationId xmlns:a16="http://schemas.microsoft.com/office/drawing/2014/main" id="{01C398D3-2AFA-4DBC-944A-61D4974728F7}"/>
              </a:ext>
            </a:extLst>
          </p:cNvPr>
          <p:cNvSpPr>
            <a:spLocks xmlns:a="http://schemas.openxmlformats.org/drawingml/2006/main" noGrp="1"/>
          </p:cNvSpPr>
          <p:nvPr/>
        </p:nvSpPr>
        <p:spPr>
          <a:xfrm xmlns:a="http://schemas.openxmlformats.org/drawingml/2006/main">
            <a:off x="411480" y="6419088"/>
            <a:ext cx="8686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5A5A5A"/>
                </a:solidFill>
                <a:latin typeface="Arial"/>
                <a:ea typeface="Arial"/>
                <a:cs typeface="Arial"/>
              </a:rPr>
              <a:t>S4  ·  The strategic problem</a:t>
            </a:r>
            <a:r>
              <a:rPr sz="1000" b="1">
                <a:solidFill>
                  <a:srgbClr val="9A6ABA"/>
                </a:solidFill>
                <a:latin typeface="Arial"/>
                <a:ea typeface="Arial"/>
                <a:cs typeface="Arial"/>
              </a:rPr>
              <a:t>      Memo §2</a:t>
            </a:r>
            <a:endParaRPr sz="1000"/>
          </a:p>
        </p:txBody>
      </p:sp>
      <p:sp>
        <p:nvSpPr>
          <p:cNvPr id="7" name="Text 5">
            <a:extLst xmlns:a="http://schemas.openxmlformats.org/drawingml/2006/main">
              <a:ext uri="{FF2B5EF4-FFF2-40B4-BE49-F238E27FC236}">
                <a16:creationId xmlns:a16="http://schemas.microsoft.com/office/drawing/2014/main" id="{58D33FBD-986C-44DC-8C84-F91833ED667F}"/>
              </a:ext>
            </a:extLst>
          </p:cNvPr>
          <p:cNvSpPr>
            <a:spLocks xmlns:a="http://schemas.openxmlformats.org/drawingml/2006/main" noGrp="1"/>
          </p:cNvSpPr>
          <p:nvPr/>
        </p:nvSpPr>
        <p:spPr>
          <a:xfrm xmlns:a="http://schemas.openxmlformats.org/drawingml/2006/main">
            <a:off x="8046720" y="6419088"/>
            <a:ext cx="374904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r">
              <a:buNone/>
              <a:defRPr sz="975">
                <a:solidFill>
                  <a:srgbClr val="505050"/>
                </a:solidFill>
                <a:latin typeface="Arial"/>
                <a:ea typeface="Arial"/>
                <a:cs typeface="Arial"/>
              </a:defRPr>
            </a:pPr>
            <a:r>
              <a:rPr sz="975">
                <a:solidFill>
                  <a:srgbClr val="505050"/>
                </a:solidFill>
                <a:latin typeface="Arial"/>
                <a:ea typeface="Arial"/>
                <a:cs typeface="Arial"/>
              </a:rPr>
              <a:t>IE-GY 9113B · Sweetgreen · Lab 2</a:t>
            </a:r>
            <a:endParaRPr sz="900"/>
          </a:p>
        </p:txBody>
      </p:sp>
      <p:sp>
        <p:nvSpPr>
          <p:cNvPr id="8" name="Text 6">
            <a:extLst xmlns:a="http://schemas.openxmlformats.org/drawingml/2006/main">
              <a:ext uri="{FF2B5EF4-FFF2-40B4-BE49-F238E27FC236}">
                <a16:creationId xmlns:a16="http://schemas.microsoft.com/office/drawing/2014/main" id="{4755126D-7459-4CF7-965A-FF20978CA6C5}"/>
              </a:ext>
            </a:extLst>
          </p:cNvPr>
          <p:cNvSpPr>
            <a:spLocks xmlns:a="http://schemas.openxmlformats.org/drawingml/2006/main" noGrp="1"/>
          </p:cNvSpPr>
          <p:nvPr/>
        </p:nvSpPr>
        <p:spPr>
          <a:xfrm xmlns:a="http://schemas.openxmlformats.org/drawingml/2006/main">
            <a:off x="411480" y="868680"/>
            <a:ext cx="113385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57068C"/>
                </a:solidFill>
                <a:latin typeface="Arial"/>
                <a:ea typeface="Arial"/>
                <a:cs typeface="Arial"/>
              </a:rPr>
              <a:t>The strategic problem</a:t>
            </a:r>
            <a:endParaRPr sz="3000"/>
          </a:p>
        </p:txBody>
      </p:sp>
      <p:sp>
        <p:nvSpPr>
          <p:cNvPr id="9" name="Shape 7">
            <a:extLst xmlns:a="http://schemas.openxmlformats.org/drawingml/2006/main">
              <a:ext uri="{FF2B5EF4-FFF2-40B4-BE49-F238E27FC236}">
                <a16:creationId xmlns:a16="http://schemas.microsoft.com/office/drawing/2014/main" id="{FCE7D1C3-A94D-4C23-BB27-D84F3CC9C021}"/>
              </a:ext>
            </a:extLst>
          </p:cNvPr>
          <p:cNvSpPr>
            <a:spLocks xmlns:a="http://schemas.openxmlformats.org/drawingml/2006/main" noGrp="1"/>
          </p:cNvSpPr>
          <p:nvPr/>
        </p:nvSpPr>
        <p:spPr>
          <a:xfrm xmlns:a="http://schemas.openxmlformats.org/drawingml/2006/main">
            <a:off x="457200" y="1600200"/>
            <a:ext cx="11247120" cy="0"/>
          </a:xfrm>
          <a:prstGeom xmlns:a="http://schemas.openxmlformats.org/drawingml/2006/main" prst="line">
            <a:avLst/>
          </a:prstGeom>
          <a:noFill xmlns:a="http://schemas.openxmlformats.org/drawingml/2006/main"/>
          <a:ln xmlns:a="http://schemas.openxmlformats.org/drawingml/2006/main" w="19050">
            <a:solidFill>
              <a:srgbClr val="9A6ABA"/>
            </a:solidFill>
            <a:prstDash val="solid"/>
          </a:ln>
        </p:spPr>
      </p:sp>
      <p:sp>
        <p:nvSpPr>
          <p:cNvPr id="10" name="Text 8">
            <a:extLst xmlns:a="http://schemas.openxmlformats.org/drawingml/2006/main">
              <a:ext uri="{FF2B5EF4-FFF2-40B4-BE49-F238E27FC236}">
                <a16:creationId xmlns:a16="http://schemas.microsoft.com/office/drawing/2014/main" id="{F477FEDC-F845-4AAC-AB00-4F9FC7455B7A}"/>
              </a:ext>
            </a:extLst>
          </p:cNvPr>
          <p:cNvSpPr>
            <a:spLocks xmlns:a="http://schemas.openxmlformats.org/drawingml/2006/main" noGrp="1"/>
          </p:cNvSpPr>
          <p:nvPr/>
        </p:nvSpPr>
        <p:spPr>
          <a:xfrm xmlns:a="http://schemas.openxmlformats.org/drawingml/2006/main">
            <a:off x="457200" y="1691640"/>
            <a:ext cx="11155680" cy="4572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buNone/>
              <a:defRPr sz="1650">
                <a:solidFill>
                  <a:srgbClr val="505050"/>
                </a:solidFill>
                <a:latin typeface="Arial"/>
                <a:ea typeface="Arial"/>
                <a:cs typeface="Arial"/>
              </a:defRPr>
            </a:pPr>
            <a:r>
              <a:rPr sz="1650" i="1">
                <a:solidFill>
                  <a:srgbClr val="505050"/>
                </a:solidFill>
                <a:latin typeface="Arial"/>
                <a:ea typeface="Arial"/>
                <a:cs typeface="Arial"/>
              </a:rPr>
              <a:t>A confirmed order can conflict with kitchen availability.</a:t>
            </a:r>
            <a:endParaRPr sz="1500"/>
          </a:p>
        </p:txBody>
      </p:sp>
      <p:sp>
        <p:nvSpPr>
          <p:cNvPr id="11" name="Shape 9">
            <a:extLst xmlns:a="http://schemas.openxmlformats.org/drawingml/2006/main">
              <a:ext uri="{FF2B5EF4-FFF2-40B4-BE49-F238E27FC236}">
                <a16:creationId xmlns:a16="http://schemas.microsoft.com/office/drawing/2014/main" id="{6FCF852A-3C2B-4F4C-8BB7-D1952F8BDA24}"/>
              </a:ext>
            </a:extLst>
          </p:cNvPr>
          <p:cNvSpPr>
            <a:spLocks xmlns:a="http://schemas.openxmlformats.org/drawingml/2006/main" noGrp="1"/>
          </p:cNvSpPr>
          <p:nvPr/>
        </p:nvSpPr>
        <p:spPr>
          <a:xfrm xmlns:a="http://schemas.openxmlformats.org/drawingml/2006/main">
            <a:off x="8549640" y="2240280"/>
            <a:ext cx="3200400" cy="3063240"/>
          </a:xfrm>
          <a:prstGeom xmlns:a="http://schemas.openxmlformats.org/drawingml/2006/main" prst="rect">
            <a:avLst/>
          </a:prstGeom>
          <a:solidFill xmlns:a="http://schemas.openxmlformats.org/drawingml/2006/main">
            <a:srgbClr val="EFE7F5"/>
          </a:solidFill>
          <a:ln xmlns:a="http://schemas.openxmlformats.org/drawingml/2006/main" w="12700">
            <a:solidFill>
              <a:srgbClr val="9A6ABA"/>
            </a:solidFill>
            <a:prstDash val="solid"/>
          </a:ln>
        </p:spPr>
      </p:sp>
      <p:sp>
        <p:nvSpPr>
          <p:cNvPr id="12" name="Shape 10">
            <a:extLst xmlns:a="http://schemas.openxmlformats.org/drawingml/2006/main">
              <a:ext uri="{FF2B5EF4-FFF2-40B4-BE49-F238E27FC236}">
                <a16:creationId xmlns:a16="http://schemas.microsoft.com/office/drawing/2014/main" id="{74ED2658-1EF9-4B0A-980B-35400E1C329D}"/>
              </a:ext>
            </a:extLst>
          </p:cNvPr>
          <p:cNvSpPr>
            <a:spLocks xmlns:a="http://schemas.openxmlformats.org/drawingml/2006/main" noGrp="1"/>
          </p:cNvSpPr>
          <p:nvPr/>
        </p:nvSpPr>
        <p:spPr>
          <a:xfrm xmlns:a="http://schemas.openxmlformats.org/drawingml/2006/main">
            <a:off x="8549640" y="2240280"/>
            <a:ext cx="73152" cy="3063240"/>
          </a:xfrm>
          <a:prstGeom xmlns:a="http://schemas.openxmlformats.org/drawingml/2006/main" prst="rect">
            <a:avLst/>
          </a:prstGeom>
          <a:solidFill xmlns:a="http://schemas.openxmlformats.org/drawingml/2006/main">
            <a:srgbClr val="57068C"/>
          </a:solidFill>
        </p:spPr>
      </p:sp>
      <p:sp>
        <p:nvSpPr>
          <p:cNvPr id="13" name="Text 11">
            <a:extLst xmlns:a="http://schemas.openxmlformats.org/drawingml/2006/main">
              <a:ext uri="{FF2B5EF4-FFF2-40B4-BE49-F238E27FC236}">
                <a16:creationId xmlns:a16="http://schemas.microsoft.com/office/drawing/2014/main" id="{650437F2-23EE-4A47-83B2-A2F98324F2FE}"/>
              </a:ext>
            </a:extLst>
          </p:cNvPr>
          <p:cNvSpPr>
            <a:spLocks xmlns:a="http://schemas.openxmlformats.org/drawingml/2006/main" noGrp="1"/>
          </p:cNvSpPr>
          <p:nvPr/>
        </p:nvSpPr>
        <p:spPr>
          <a:xfrm xmlns:a="http://schemas.openxmlformats.org/drawingml/2006/main">
            <a:off x="8778240" y="2468880"/>
            <a:ext cx="2743200" cy="26517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LAB 1 SAMPLE</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6 exceptions / 30 orders</a:t>
            </a:r>
            <a:endParaRPr sz="1200"/>
          </a:p>
          <a:p xmlns:a="http://schemas.openxmlformats.org/drawingml/2006/main">
            <a:pPr marL="0" indent="0" algn="l">
              <a:lnSpc>
                <a:spcPct val="105000"/>
              </a:lnSpc>
              <a:buNone/>
            </a:pPr>
            <a:r>
              <a:rPr sz="1200" b="1" spc="100">
                <a:solidFill>
                  <a:srgbClr val="57068C"/>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MODELED IMPACT</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$44 labor + refunds</a:t>
            </a:r>
            <a:endParaRPr sz="1200"/>
          </a:p>
          <a:p xmlns:a="http://schemas.openxmlformats.org/drawingml/2006/main">
            <a:pPr marL="0" indent="0" algn="l">
              <a:lnSpc>
                <a:spcPct val="105000"/>
              </a:lnSpc>
              <a:buNone/>
            </a:pPr>
            <a:r>
              <a:rPr sz="1300">
                <a:solidFill>
                  <a:srgbClr val="333333"/>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LATE READINESS</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18.7 min / exception</a:t>
            </a:r>
            <a:endParaRPr sz="1200"/>
          </a:p>
        </p:txBody>
      </p:sp>
      <p:sp>
        <p:nvSpPr>
          <p:cNvPr id="14" name="Text 12">
            <a:extLst xmlns:a="http://schemas.openxmlformats.org/drawingml/2006/main">
              <a:ext uri="{FF2B5EF4-FFF2-40B4-BE49-F238E27FC236}">
                <a16:creationId xmlns:a16="http://schemas.microsoft.com/office/drawing/2014/main" id="{F8A5AE2D-489A-4955-8B59-799CD408B6E3}"/>
              </a:ext>
            </a:extLst>
          </p:cNvPr>
          <p:cNvSpPr>
            <a:spLocks xmlns:a="http://schemas.openxmlformats.org/drawingml/2006/main" noGrp="1"/>
          </p:cNvSpPr>
          <p:nvPr/>
        </p:nvSpPr>
        <p:spPr>
          <a:xfrm xmlns:a="http://schemas.openxmlformats.org/drawingml/2006/main">
            <a:off x="457200" y="2286000"/>
            <a:ext cx="7772400" cy="2286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Cached availability can approve an item the kitchen cannot make.</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Staff must hold the order, contact the customer and repeat checks.</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The pickup promise slips while recovery consumes staff capacity.</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Assembly automation still needs a reliable fulfillment decision.</a:t>
            </a:r>
            <a:endParaRPr sz="1600"/>
          </a:p>
        </p:txBody>
      </p:sp>
      <p:sp>
        <p:nvSpPr>
          <p:cNvPr id="15" name="Shape 13">
            <a:extLst xmlns:a="http://schemas.openxmlformats.org/drawingml/2006/main">
              <a:ext uri="{FF2B5EF4-FFF2-40B4-BE49-F238E27FC236}">
                <a16:creationId xmlns:a16="http://schemas.microsoft.com/office/drawing/2014/main" id="{AA0B54AA-D2A9-467B-8D46-B41A853F7086}"/>
              </a:ext>
            </a:extLst>
          </p:cNvPr>
          <p:cNvSpPr>
            <a:spLocks xmlns:a="http://schemas.openxmlformats.org/drawingml/2006/main" noGrp="1"/>
          </p:cNvSpPr>
          <p:nvPr/>
        </p:nvSpPr>
        <p:spPr>
          <a:xfrm xmlns:a="http://schemas.openxmlformats.org/drawingml/2006/main">
            <a:off x="457200" y="4709160"/>
            <a:ext cx="7772400" cy="841248"/>
          </a:xfrm>
          <a:prstGeom xmlns:a="http://schemas.openxmlformats.org/drawingml/2006/main" prst="roundRect">
            <a:avLst>
              <a:gd name="adj" fmla="val 6522"/>
            </a:avLst>
          </a:prstGeom>
          <a:solidFill xmlns:a="http://schemas.openxmlformats.org/drawingml/2006/main">
            <a:srgbClr val="F3ECF9"/>
          </a:solidFill>
          <a:ln xmlns:a="http://schemas.openxmlformats.org/drawingml/2006/main" w="9525">
            <a:solidFill>
              <a:srgbClr val="9A6ABA"/>
            </a:solidFill>
            <a:prstDash val="solid"/>
          </a:ln>
        </p:spPr>
      </p:sp>
      <p:sp>
        <p:nvSpPr>
          <p:cNvPr id="16" name="Shape 14">
            <a:extLst xmlns:a="http://schemas.openxmlformats.org/drawingml/2006/main">
              <a:ext uri="{FF2B5EF4-FFF2-40B4-BE49-F238E27FC236}">
                <a16:creationId xmlns:a16="http://schemas.microsoft.com/office/drawing/2014/main" id="{30C5E70C-23ED-4838-AAA9-1AC013CD3CA8}"/>
              </a:ext>
            </a:extLst>
          </p:cNvPr>
          <p:cNvSpPr>
            <a:spLocks xmlns:a="http://schemas.openxmlformats.org/drawingml/2006/main" noGrp="1"/>
          </p:cNvSpPr>
          <p:nvPr/>
        </p:nvSpPr>
        <p:spPr>
          <a:xfrm xmlns:a="http://schemas.openxmlformats.org/drawingml/2006/main">
            <a:off x="457200" y="4709160"/>
            <a:ext cx="64008" cy="841248"/>
          </a:xfrm>
          <a:prstGeom xmlns:a="http://schemas.openxmlformats.org/drawingml/2006/main" prst="rect">
            <a:avLst/>
          </a:prstGeom>
          <a:solidFill xmlns:a="http://schemas.openxmlformats.org/drawingml/2006/main">
            <a:srgbClr val="6B2FA0"/>
          </a:solidFill>
        </p:spPr>
      </p:sp>
      <p:sp>
        <p:nvSpPr>
          <p:cNvPr id="17" name="Text 15">
            <a:extLst xmlns:a="http://schemas.openxmlformats.org/drawingml/2006/main">
              <a:ext uri="{FF2B5EF4-FFF2-40B4-BE49-F238E27FC236}">
                <a16:creationId xmlns:a16="http://schemas.microsoft.com/office/drawing/2014/main" id="{9F0697C2-239B-4475-AFC7-B177020AE7DF}"/>
              </a:ext>
            </a:extLst>
          </p:cNvPr>
          <p:cNvSpPr>
            <a:spLocks xmlns:a="http://schemas.openxmlformats.org/drawingml/2006/main" noGrp="1"/>
          </p:cNvSpPr>
          <p:nvPr/>
        </p:nvSpPr>
        <p:spPr>
          <a:xfrm xmlns:a="http://schemas.openxmlformats.org/drawingml/2006/main">
            <a:off x="658368" y="4764024"/>
            <a:ext cx="7406640" cy="73152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lnSpc>
                <a:spcPct val="100000"/>
              </a:lnSpc>
              <a:buNone/>
              <a:defRPr sz="1425">
                <a:solidFill>
                  <a:srgbClr val="505050"/>
                </a:solidFill>
                <a:latin typeface="Arial"/>
                <a:ea typeface="Arial"/>
                <a:cs typeface="Arial"/>
              </a:defRPr>
            </a:pPr>
            <a:r>
              <a:rPr sz="1425" b="1" spc="100">
                <a:solidFill>
                  <a:srgbClr val="505050"/>
                </a:solidFill>
                <a:latin typeface="Arial"/>
                <a:ea typeface="Arial"/>
                <a:cs typeface="Arial"/>
              </a:rPr>
              <a:t>Board consequence: unresolved data disagreement can erode service reliability and consume the capacity automation is meant to release.</a:t>
            </a:r>
            <a:endParaRPr sz="1100"/>
          </a:p>
        </p:txBody>
      </p:sp>
      <p:sp>
        <p:nvSpPr>
          <p:cNvPr id="18" name="Text 16">
            <a:extLst xmlns:a="http://schemas.openxmlformats.org/drawingml/2006/main">
              <a:ext uri="{FF2B5EF4-FFF2-40B4-BE49-F238E27FC236}">
                <a16:creationId xmlns:a16="http://schemas.microsoft.com/office/drawing/2014/main" id="{A89BDB0C-37F5-4E00-A549-376F6D5B7F2F}"/>
              </a:ext>
            </a:extLst>
          </p:cNvPr>
          <p:cNvSpPr>
            <a:spLocks xmlns:a="http://schemas.openxmlformats.org/drawingml/2006/main" noGrp="1"/>
          </p:cNvSpPr>
          <p:nvPr/>
        </p:nvSpPr>
        <p:spPr>
          <a:xfrm xmlns:a="http://schemas.openxmlformats.org/drawingml/2006/main">
            <a:off x="457200" y="5623560"/>
            <a:ext cx="777240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125">
                <a:solidFill>
                  <a:srgbClr val="505050"/>
                </a:solidFill>
                <a:latin typeface="Arial"/>
                <a:ea typeface="Arial"/>
                <a:cs typeface="Arial"/>
              </a:defRPr>
            </a:pPr>
            <a:r>
              <a:rPr sz="1125" i="1">
                <a:solidFill>
                  <a:srgbClr val="505050"/>
                </a:solidFill>
                <a:latin typeface="Arial"/>
                <a:ea typeface="Arial"/>
                <a:cs typeface="Arial"/>
              </a:rPr>
              <a:t>Synthetic illustration, not measured Sweetgreen performance or forecast savings.</a:t>
            </a:r>
            <a:endParaRPr sz="1100"/>
          </a:p>
        </p:txBody>
      </p:sp>
    </p:spTree>
    <p:extLst>
      <p:ext uri="{BB962C8B-B14F-4D97-AF65-F5344CB8AC3E}">
        <p14:creationId xmlns:p14="http://schemas.microsoft.com/office/powerpoint/2010/main" val="6790069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1578C9-0109-4671-831D-4C6E3D251056}"/>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57068C"/>
          </a:solidFill>
        </p:spPr>
      </p:sp>
      <p:sp>
        <p:nvSpPr>
          <p:cNvPr id="3" name="Text 1">
            <a:extLst xmlns:a="http://schemas.openxmlformats.org/drawingml/2006/main">
              <a:ext uri="{FF2B5EF4-FFF2-40B4-BE49-F238E27FC236}">
                <a16:creationId xmlns:a16="http://schemas.microsoft.com/office/drawing/2014/main" id="{3524B5C8-9D31-4AC8-A53C-0E87D050A902}"/>
              </a:ext>
            </a:extLst>
          </p:cNvPr>
          <p:cNvSpPr>
            <a:spLocks xmlns:a="http://schemas.openxmlformats.org/drawingml/2006/main" noGrp="1"/>
          </p:cNvSpPr>
          <p:nvPr/>
        </p:nvSpPr>
        <p:spPr>
          <a:xfrm xmlns:a="http://schemas.openxmlformats.org/drawingml/2006/main">
            <a:off x="411480" y="256032"/>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b="1">
                <a:solidFill>
                  <a:srgbClr val="57068C"/>
                </a:solidFill>
                <a:latin typeface="Arial"/>
                <a:ea typeface="Arial"/>
                <a:cs typeface="Arial"/>
              </a:rPr>
              <a:t>NYU</a:t>
            </a:r>
            <a:r>
              <a:rPr sz="1300" b="1">
                <a:solidFill>
                  <a:srgbClr val="333333"/>
                </a:solidFill>
                <a:latin typeface="Arial"/>
                <a:ea typeface="Arial"/>
                <a:cs typeface="Arial"/>
              </a:rPr>
              <a:t> TANDON</a:t>
            </a:r>
            <a:endParaRPr sz="1300"/>
          </a:p>
        </p:txBody>
      </p:sp>
      <p:sp>
        <p:nvSpPr>
          <p:cNvPr id="4" name="Shape 2">
            <a:extLst xmlns:a="http://schemas.openxmlformats.org/drawingml/2006/main">
              <a:ext uri="{FF2B5EF4-FFF2-40B4-BE49-F238E27FC236}">
                <a16:creationId xmlns:a16="http://schemas.microsoft.com/office/drawing/2014/main" id="{5CC4F955-CE4C-42CF-9541-AA9D4D7C6E01}"/>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oundRect">
            <a:avLst>
              <a:gd name="adj" fmla="val 47619"/>
            </a:avLst>
          </a:prstGeom>
          <a:solidFill xmlns:a="http://schemas.openxmlformats.org/drawingml/2006/main">
            <a:srgbClr val="57068C"/>
          </a:solidFill>
        </p:spPr>
      </p:sp>
      <p:sp>
        <p:nvSpPr>
          <p:cNvPr id="5" name="Text 3">
            <a:extLst xmlns:a="http://schemas.openxmlformats.org/drawingml/2006/main">
              <a:ext uri="{FF2B5EF4-FFF2-40B4-BE49-F238E27FC236}">
                <a16:creationId xmlns:a16="http://schemas.microsoft.com/office/drawing/2014/main" id="{76251F72-1C0A-4B11-B09E-20BF44EB40D9}"/>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spc="100">
                <a:solidFill>
                  <a:srgbClr val="FFFFFF"/>
                </a:solidFill>
                <a:latin typeface="Arial"/>
                <a:ea typeface="Arial"/>
                <a:cs typeface="Arial"/>
              </a:rPr>
              <a:t>DIAGNOSE</a:t>
            </a:r>
            <a:endParaRPr sz="1100"/>
          </a:p>
        </p:txBody>
      </p:sp>
      <p:sp>
        <p:nvSpPr>
          <p:cNvPr id="6" name="Text 4">
            <a:extLst xmlns:a="http://schemas.openxmlformats.org/drawingml/2006/main">
              <a:ext uri="{FF2B5EF4-FFF2-40B4-BE49-F238E27FC236}">
                <a16:creationId xmlns:a16="http://schemas.microsoft.com/office/drawing/2014/main" id="{7C0DC87D-3D71-4240-9B22-76783E4D31EB}"/>
              </a:ext>
            </a:extLst>
          </p:cNvPr>
          <p:cNvSpPr>
            <a:spLocks xmlns:a="http://schemas.openxmlformats.org/drawingml/2006/main" noGrp="1"/>
          </p:cNvSpPr>
          <p:nvPr/>
        </p:nvSpPr>
        <p:spPr>
          <a:xfrm xmlns:a="http://schemas.openxmlformats.org/drawingml/2006/main">
            <a:off x="411480" y="6419088"/>
            <a:ext cx="8686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5A5A5A"/>
                </a:solidFill>
                <a:latin typeface="Arial"/>
                <a:ea typeface="Arial"/>
                <a:cs typeface="Arial"/>
              </a:rPr>
              <a:t>S5  ·  Backbone diagnosis</a:t>
            </a:r>
            <a:r>
              <a:rPr sz="1000" b="1">
                <a:solidFill>
                  <a:srgbClr val="9A6ABA"/>
                </a:solidFill>
                <a:latin typeface="Arial"/>
                <a:ea typeface="Arial"/>
                <a:cs typeface="Arial"/>
              </a:rPr>
              <a:t>      Memo §3</a:t>
            </a:r>
            <a:endParaRPr sz="1000"/>
          </a:p>
        </p:txBody>
      </p:sp>
      <p:sp>
        <p:nvSpPr>
          <p:cNvPr id="7" name="Text 5">
            <a:extLst xmlns:a="http://schemas.openxmlformats.org/drawingml/2006/main">
              <a:ext uri="{FF2B5EF4-FFF2-40B4-BE49-F238E27FC236}">
                <a16:creationId xmlns:a16="http://schemas.microsoft.com/office/drawing/2014/main" id="{5C1C4352-1A1D-4940-B4DC-03F4B4B97C59}"/>
              </a:ext>
            </a:extLst>
          </p:cNvPr>
          <p:cNvSpPr>
            <a:spLocks xmlns:a="http://schemas.openxmlformats.org/drawingml/2006/main" noGrp="1"/>
          </p:cNvSpPr>
          <p:nvPr/>
        </p:nvSpPr>
        <p:spPr>
          <a:xfrm xmlns:a="http://schemas.openxmlformats.org/drawingml/2006/main">
            <a:off x="8046720" y="6419088"/>
            <a:ext cx="374904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r">
              <a:buNone/>
              <a:defRPr sz="975">
                <a:solidFill>
                  <a:srgbClr val="505050"/>
                </a:solidFill>
                <a:latin typeface="Arial"/>
                <a:ea typeface="Arial"/>
                <a:cs typeface="Arial"/>
              </a:defRPr>
            </a:pPr>
            <a:r>
              <a:rPr sz="975">
                <a:solidFill>
                  <a:srgbClr val="505050"/>
                </a:solidFill>
                <a:latin typeface="Arial"/>
                <a:ea typeface="Arial"/>
                <a:cs typeface="Arial"/>
              </a:rPr>
              <a:t>IE-GY 9113B · Sweetgreen · Lab 2</a:t>
            </a:r>
            <a:endParaRPr sz="900"/>
          </a:p>
        </p:txBody>
      </p:sp>
      <p:sp>
        <p:nvSpPr>
          <p:cNvPr id="8" name="Text 6">
            <a:extLst xmlns:a="http://schemas.openxmlformats.org/drawingml/2006/main">
              <a:ext uri="{FF2B5EF4-FFF2-40B4-BE49-F238E27FC236}">
                <a16:creationId xmlns:a16="http://schemas.microsoft.com/office/drawing/2014/main" id="{120CFA25-8673-4E1E-ABE9-89332B2B97A3}"/>
              </a:ext>
            </a:extLst>
          </p:cNvPr>
          <p:cNvSpPr>
            <a:spLocks xmlns:a="http://schemas.openxmlformats.org/drawingml/2006/main" noGrp="1"/>
          </p:cNvSpPr>
          <p:nvPr/>
        </p:nvSpPr>
        <p:spPr>
          <a:xfrm xmlns:a="http://schemas.openxmlformats.org/drawingml/2006/main">
            <a:off x="411480" y="868680"/>
            <a:ext cx="113385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57068C"/>
                </a:solidFill>
                <a:latin typeface="Arial"/>
                <a:ea typeface="Arial"/>
                <a:cs typeface="Arial"/>
              </a:rPr>
              <a:t>Backbone diagnosis</a:t>
            </a:r>
            <a:endParaRPr sz="3000"/>
          </a:p>
        </p:txBody>
      </p:sp>
      <p:sp>
        <p:nvSpPr>
          <p:cNvPr id="9" name="Shape 7">
            <a:extLst xmlns:a="http://schemas.openxmlformats.org/drawingml/2006/main">
              <a:ext uri="{FF2B5EF4-FFF2-40B4-BE49-F238E27FC236}">
                <a16:creationId xmlns:a16="http://schemas.microsoft.com/office/drawing/2014/main" id="{1B400118-545F-43B3-800F-EBCD968155B8}"/>
              </a:ext>
            </a:extLst>
          </p:cNvPr>
          <p:cNvSpPr>
            <a:spLocks xmlns:a="http://schemas.openxmlformats.org/drawingml/2006/main" noGrp="1"/>
          </p:cNvSpPr>
          <p:nvPr/>
        </p:nvSpPr>
        <p:spPr>
          <a:xfrm xmlns:a="http://schemas.openxmlformats.org/drawingml/2006/main">
            <a:off x="457200" y="1600200"/>
            <a:ext cx="11247120" cy="0"/>
          </a:xfrm>
          <a:prstGeom xmlns:a="http://schemas.openxmlformats.org/drawingml/2006/main" prst="line">
            <a:avLst/>
          </a:prstGeom>
          <a:noFill xmlns:a="http://schemas.openxmlformats.org/drawingml/2006/main"/>
          <a:ln xmlns:a="http://schemas.openxmlformats.org/drawingml/2006/main" w="19050">
            <a:solidFill>
              <a:srgbClr val="9A6ABA"/>
            </a:solidFill>
            <a:prstDash val="solid"/>
          </a:ln>
        </p:spPr>
      </p:sp>
      <p:sp>
        <p:nvSpPr>
          <p:cNvPr id="10" name="Text 8">
            <a:extLst xmlns:a="http://schemas.openxmlformats.org/drawingml/2006/main">
              <a:ext uri="{FF2B5EF4-FFF2-40B4-BE49-F238E27FC236}">
                <a16:creationId xmlns:a16="http://schemas.microsoft.com/office/drawing/2014/main" id="{779E225C-7C0C-4D83-8C5E-D5760CA842D1}"/>
              </a:ext>
            </a:extLst>
          </p:cNvPr>
          <p:cNvSpPr>
            <a:spLocks xmlns:a="http://schemas.openxmlformats.org/drawingml/2006/main" noGrp="1"/>
          </p:cNvSpPr>
          <p:nvPr/>
        </p:nvSpPr>
        <p:spPr>
          <a:xfrm xmlns:a="http://schemas.openxmlformats.org/drawingml/2006/main">
            <a:off x="457200" y="1691640"/>
            <a:ext cx="11155680" cy="4572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buNone/>
              <a:defRPr sz="1650">
                <a:solidFill>
                  <a:srgbClr val="505050"/>
                </a:solidFill>
                <a:latin typeface="Arial"/>
                <a:ea typeface="Arial"/>
                <a:cs typeface="Arial"/>
              </a:defRPr>
            </a:pPr>
            <a:r>
              <a:rPr sz="1650" i="1">
                <a:solidFill>
                  <a:srgbClr val="505050"/>
                </a:solidFill>
                <a:latin typeface="Arial"/>
                <a:ea typeface="Arial"/>
                <a:cs typeface="Arial"/>
              </a:rPr>
              <a:t>Condensed Lab 1 process with control points and diagnostic markers.</a:t>
            </a:r>
            <a:endParaRPr sz="1500"/>
          </a:p>
        </p:txBody>
      </p:sp>
      <p:sp>
        <p:nvSpPr>
          <p:cNvPr id="11" name="Shape 9">
            <a:extLst xmlns:a="http://schemas.openxmlformats.org/drawingml/2006/main">
              <a:ext uri="{FF2B5EF4-FFF2-40B4-BE49-F238E27FC236}">
                <a16:creationId xmlns:a16="http://schemas.microsoft.com/office/drawing/2014/main" id="{F375730A-087F-488B-AC8B-8AF3B077DE51}"/>
              </a:ext>
            </a:extLst>
          </p:cNvPr>
          <p:cNvSpPr>
            <a:spLocks xmlns:a="http://schemas.openxmlformats.org/drawingml/2006/main" noGrp="1"/>
          </p:cNvSpPr>
          <p:nvPr/>
        </p:nvSpPr>
        <p:spPr>
          <a:xfrm xmlns:a="http://schemas.openxmlformats.org/drawingml/2006/main">
            <a:off x="8549640" y="2240280"/>
            <a:ext cx="3200400" cy="3063240"/>
          </a:xfrm>
          <a:prstGeom xmlns:a="http://schemas.openxmlformats.org/drawingml/2006/main" prst="rect">
            <a:avLst/>
          </a:prstGeom>
          <a:solidFill xmlns:a="http://schemas.openxmlformats.org/drawingml/2006/main">
            <a:srgbClr val="EFE7F5"/>
          </a:solidFill>
          <a:ln xmlns:a="http://schemas.openxmlformats.org/drawingml/2006/main" w="12700">
            <a:solidFill>
              <a:srgbClr val="9A6ABA"/>
            </a:solidFill>
            <a:prstDash val="solid"/>
          </a:ln>
        </p:spPr>
      </p:sp>
      <p:sp>
        <p:nvSpPr>
          <p:cNvPr id="12" name="Shape 10">
            <a:extLst xmlns:a="http://schemas.openxmlformats.org/drawingml/2006/main">
              <a:ext uri="{FF2B5EF4-FFF2-40B4-BE49-F238E27FC236}">
                <a16:creationId xmlns:a16="http://schemas.microsoft.com/office/drawing/2014/main" id="{7F8EE615-ABF7-4644-9E3D-B86464C90DB1}"/>
              </a:ext>
            </a:extLst>
          </p:cNvPr>
          <p:cNvSpPr>
            <a:spLocks xmlns:a="http://schemas.openxmlformats.org/drawingml/2006/main" noGrp="1"/>
          </p:cNvSpPr>
          <p:nvPr/>
        </p:nvSpPr>
        <p:spPr>
          <a:xfrm xmlns:a="http://schemas.openxmlformats.org/drawingml/2006/main">
            <a:off x="8549640" y="2240280"/>
            <a:ext cx="73152" cy="3063240"/>
          </a:xfrm>
          <a:prstGeom xmlns:a="http://schemas.openxmlformats.org/drawingml/2006/main" prst="rect">
            <a:avLst/>
          </a:prstGeom>
          <a:solidFill xmlns:a="http://schemas.openxmlformats.org/drawingml/2006/main">
            <a:srgbClr val="57068C"/>
          </a:solidFill>
        </p:spPr>
      </p:sp>
      <p:sp>
        <p:nvSpPr>
          <p:cNvPr id="13" name="Text 11">
            <a:extLst xmlns:a="http://schemas.openxmlformats.org/drawingml/2006/main">
              <a:ext uri="{FF2B5EF4-FFF2-40B4-BE49-F238E27FC236}">
                <a16:creationId xmlns:a16="http://schemas.microsoft.com/office/drawing/2014/main" id="{41587C1C-5CC5-4E27-BB7F-740E6329A8DF}"/>
              </a:ext>
            </a:extLst>
          </p:cNvPr>
          <p:cNvSpPr>
            <a:spLocks xmlns:a="http://schemas.openxmlformats.org/drawingml/2006/main" noGrp="1"/>
          </p:cNvSpPr>
          <p:nvPr/>
        </p:nvSpPr>
        <p:spPr>
          <a:xfrm xmlns:a="http://schemas.openxmlformats.org/drawingml/2006/main">
            <a:off x="8778240" y="2468880"/>
            <a:ext cx="2743200" cy="26517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LAB MARKERS</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1  Correction / remake</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    loop: worst friction</a:t>
            </a:r>
            <a:endParaRPr sz="1200"/>
          </a:p>
          <a:p xmlns:a="http://schemas.openxmlformats.org/drawingml/2006/main">
            <a:pPr marL="0" indent="0" algn="l">
              <a:lnSpc>
                <a:spcPct val="105000"/>
              </a:lnSpc>
              <a:buNone/>
            </a:pPr>
            <a:r>
              <a:rPr sz="1300">
                <a:solidFill>
                  <a:srgbClr val="333333"/>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2  D2 availability:</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    rules-based target</a:t>
            </a:r>
            <a:endParaRPr sz="1200"/>
          </a:p>
          <a:p xmlns:a="http://schemas.openxmlformats.org/drawingml/2006/main">
            <a:pPr marL="0" indent="0" algn="l">
              <a:lnSpc>
                <a:spcPct val="105000"/>
              </a:lnSpc>
              <a:buNone/>
            </a:pPr>
            <a:r>
              <a:rPr sz="1300">
                <a:solidFill>
                  <a:srgbClr val="333333"/>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3  D3 recovery:</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    human judgment</a:t>
            </a:r>
            <a:endParaRPr sz="1200"/>
          </a:p>
        </p:txBody>
      </p:sp>
      <p:sp>
        <p:nvSpPr>
          <p:cNvPr id="14" name="Text 12">
            <a:extLst xmlns:a="http://schemas.openxmlformats.org/drawingml/2006/main">
              <a:ext uri="{FF2B5EF4-FFF2-40B4-BE49-F238E27FC236}">
                <a16:creationId xmlns:a16="http://schemas.microsoft.com/office/drawing/2014/main" id="{4EF668A9-8846-456F-A9FB-F4AA0FAE25FF}"/>
              </a:ext>
            </a:extLst>
          </p:cNvPr>
          <p:cNvSpPr>
            <a:spLocks xmlns:a="http://schemas.openxmlformats.org/drawingml/2006/main" noGrp="1"/>
          </p:cNvSpPr>
          <p:nvPr/>
        </p:nvSpPr>
        <p:spPr>
          <a:xfrm xmlns:a="http://schemas.openxmlformats.org/drawingml/2006/main">
            <a:off x="457200" y="2286000"/>
            <a:ext cx="7772400" cy="2286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228600" indent="-228600" algn="l">
              <a:lnSpc>
                <a:spcPct val="105000"/>
              </a:lnSpc>
              <a:spcAft>
                <a:spcPts val="800"/>
              </a:spcAft>
              <a:buSzPct val="100000"/>
              <a:buChar char="•"/>
            </a:pPr>
            <a:r>
              <a:rPr sz="1600">
                <a:solidFill>
                  <a:srgbClr val="5A5A5A"/>
                </a:solidFill>
                <a:latin typeface="Arial"/>
                <a:ea typeface="Arial"/>
                <a:cs typeface="Arial"/>
              </a:rPr>
              <a:t/>
            </a:r>
            <a:endParaRPr sz="1600"/>
          </a:p>
        </p:txBody>
      </p:sp>
      <p:sp>
        <p:nvSpPr>
          <p:cNvPr id="15" name="Shape 13">
            <a:extLst xmlns:a="http://schemas.openxmlformats.org/drawingml/2006/main">
              <a:ext uri="{FF2B5EF4-FFF2-40B4-BE49-F238E27FC236}">
                <a16:creationId xmlns:a16="http://schemas.microsoft.com/office/drawing/2014/main" id="{081A825E-642C-41E6-BCD6-D79834E560E0}"/>
              </a:ext>
            </a:extLst>
          </p:cNvPr>
          <p:cNvSpPr>
            <a:spLocks xmlns:a="http://schemas.openxmlformats.org/drawingml/2006/main" noGrp="1"/>
          </p:cNvSpPr>
          <p:nvPr/>
        </p:nvSpPr>
        <p:spPr>
          <a:xfrm xmlns:a="http://schemas.openxmlformats.org/drawingml/2006/main">
            <a:off x="457200" y="4709160"/>
            <a:ext cx="7772400" cy="841248"/>
          </a:xfrm>
          <a:prstGeom xmlns:a="http://schemas.openxmlformats.org/drawingml/2006/main" prst="roundRect">
            <a:avLst>
              <a:gd name="adj" fmla="val 6522"/>
            </a:avLst>
          </a:prstGeom>
          <a:solidFill xmlns:a="http://schemas.openxmlformats.org/drawingml/2006/main">
            <a:srgbClr val="F3ECF9"/>
          </a:solidFill>
          <a:ln xmlns:a="http://schemas.openxmlformats.org/drawingml/2006/main" w="9525">
            <a:solidFill>
              <a:srgbClr val="9A6ABA"/>
            </a:solidFill>
            <a:prstDash val="solid"/>
          </a:ln>
        </p:spPr>
      </p:sp>
      <p:sp>
        <p:nvSpPr>
          <p:cNvPr id="16" name="Shape 14">
            <a:extLst xmlns:a="http://schemas.openxmlformats.org/drawingml/2006/main">
              <a:ext uri="{FF2B5EF4-FFF2-40B4-BE49-F238E27FC236}">
                <a16:creationId xmlns:a16="http://schemas.microsoft.com/office/drawing/2014/main" id="{16209B0D-CC5A-44BB-B3D6-72EFC5F775D7}"/>
              </a:ext>
            </a:extLst>
          </p:cNvPr>
          <p:cNvSpPr>
            <a:spLocks xmlns:a="http://schemas.openxmlformats.org/drawingml/2006/main" noGrp="1"/>
          </p:cNvSpPr>
          <p:nvPr/>
        </p:nvSpPr>
        <p:spPr>
          <a:xfrm xmlns:a="http://schemas.openxmlformats.org/drawingml/2006/main">
            <a:off x="457200" y="4709160"/>
            <a:ext cx="64008" cy="841248"/>
          </a:xfrm>
          <a:prstGeom xmlns:a="http://schemas.openxmlformats.org/drawingml/2006/main" prst="rect">
            <a:avLst/>
          </a:prstGeom>
          <a:solidFill xmlns:a="http://schemas.openxmlformats.org/drawingml/2006/main">
            <a:srgbClr val="6B2FA0"/>
          </a:solidFill>
        </p:spPr>
      </p:sp>
      <p:sp>
        <p:nvSpPr>
          <p:cNvPr id="17" name="Text 15">
            <a:extLst xmlns:a="http://schemas.openxmlformats.org/drawingml/2006/main">
              <a:ext uri="{FF2B5EF4-FFF2-40B4-BE49-F238E27FC236}">
                <a16:creationId xmlns:a16="http://schemas.microsoft.com/office/drawing/2014/main" id="{C52F288C-81B8-4949-9062-7263DE407EDE}"/>
              </a:ext>
            </a:extLst>
          </p:cNvPr>
          <p:cNvSpPr>
            <a:spLocks xmlns:a="http://schemas.openxmlformats.org/drawingml/2006/main" noGrp="1"/>
          </p:cNvSpPr>
          <p:nvPr/>
        </p:nvSpPr>
        <p:spPr>
          <a:xfrm xmlns:a="http://schemas.openxmlformats.org/drawingml/2006/main">
            <a:off x="658368" y="4764024"/>
            <a:ext cx="7406640" cy="73152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lnSpc>
                <a:spcPct val="100000"/>
              </a:lnSpc>
              <a:buNone/>
              <a:defRPr sz="1425">
                <a:solidFill>
                  <a:srgbClr val="505050"/>
                </a:solidFill>
                <a:latin typeface="Arial"/>
                <a:ea typeface="Arial"/>
                <a:cs typeface="Arial"/>
              </a:defRPr>
            </a:pPr>
            <a:r>
              <a:rPr sz="1425" b="1" spc="100">
                <a:solidFill>
                  <a:srgbClr val="505050"/>
                </a:solidFill>
                <a:latin typeface="Arial"/>
                <a:ea typeface="Arial"/>
                <a:cs typeface="Arial"/>
              </a:rPr>
              <a:t>Friction chain: availability conflict causes a hold, customer recovery and repeat checks. Late pickup and recovery costs follow.</a:t>
            </a:r>
            <a:endParaRPr sz="1100"/>
          </a:p>
        </p:txBody>
      </p:sp>
      <p:sp>
        <p:nvSpPr>
          <p:cNvPr id="18" name="Text 16">
            <a:extLst xmlns:a="http://schemas.openxmlformats.org/drawingml/2006/main">
              <a:ext uri="{FF2B5EF4-FFF2-40B4-BE49-F238E27FC236}">
                <a16:creationId xmlns:a16="http://schemas.microsoft.com/office/drawing/2014/main" id="{09148640-3DB1-40A2-9A3D-3ABB52B72132}"/>
              </a:ext>
            </a:extLst>
          </p:cNvPr>
          <p:cNvSpPr>
            <a:spLocks xmlns:a="http://schemas.openxmlformats.org/drawingml/2006/main" noGrp="1"/>
          </p:cNvSpPr>
          <p:nvPr/>
        </p:nvSpPr>
        <p:spPr>
          <a:xfrm xmlns:a="http://schemas.openxmlformats.org/drawingml/2006/main">
            <a:off x="457200" y="5623560"/>
            <a:ext cx="777240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125">
                <a:solidFill>
                  <a:srgbClr val="505050"/>
                </a:solidFill>
                <a:latin typeface="Arial"/>
                <a:ea typeface="Arial"/>
                <a:cs typeface="Arial"/>
              </a:defRPr>
            </a:pPr>
            <a:r>
              <a:rPr sz="1125" i="1">
                <a:solidFill>
                  <a:srgbClr val="505050"/>
                </a:solidFill>
                <a:latin typeface="Arial"/>
                <a:ea typeface="Arial"/>
                <a:cs typeface="Arial"/>
              </a:rPr>
              <a:t>CP = new authoritative record. Quality and payment gates remain in the full Lab 1 map.</a:t>
            </a:r>
            <a:endParaRPr sz="1100"/>
          </a:p>
        </p:txBody>
      </p:sp>
      <p:sp>
        <p:nvSpPr>
          <p:cNvPr id="19" name="">
            <a:extLst xmlns:a="http://schemas.openxmlformats.org/drawingml/2006/main">
              <a:ext uri="{FF2B5EF4-FFF2-40B4-BE49-F238E27FC236}">
                <a16:creationId xmlns:a16="http://schemas.microsoft.com/office/drawing/2014/main" id="{FB94140D-F64E-4726-8B3E-DD8FA32FEB3A}"/>
              </a:ext>
            </a:extLst>
          </p:cNvPr>
          <p:cNvSpPr>
            <a:spLocks xmlns:a="http://schemas.openxmlformats.org/drawingml/2006/main" noGrp="1"/>
          </p:cNvSpPr>
          <p:nvPr/>
        </p:nvSpPr>
        <p:spPr>
          <a:xfrm xmlns:a="http://schemas.openxmlformats.org/drawingml/2006/main">
            <a:off x="523875" y="2333625"/>
            <a:ext cx="1619250" cy="600075"/>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D1 accepted?</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CP1 order spec</a:t>
            </a:r>
          </a:p>
        </p:txBody>
      </p:sp>
      <p:sp>
        <p:nvSpPr>
          <p:cNvPr id="20" name="">
            <a:extLst xmlns:a="http://schemas.openxmlformats.org/drawingml/2006/main">
              <a:ext uri="{FF2B5EF4-FFF2-40B4-BE49-F238E27FC236}">
                <a16:creationId xmlns:a16="http://schemas.microsoft.com/office/drawing/2014/main" id="{C29FCD4A-6463-4F0D-A68A-69205A791135}"/>
              </a:ext>
            </a:extLst>
          </p:cNvPr>
          <p:cNvSpPr>
            <a:spLocks xmlns:a="http://schemas.openxmlformats.org/drawingml/2006/main" noGrp="1"/>
          </p:cNvSpPr>
          <p:nvPr/>
        </p:nvSpPr>
        <p:spPr>
          <a:xfrm xmlns:a="http://schemas.openxmlformats.org/drawingml/2006/main">
            <a:off x="2619375" y="2333625"/>
            <a:ext cx="1619250" cy="600075"/>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D2 feasible?</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Availability</a:t>
            </a:r>
          </a:p>
        </p:txBody>
      </p:sp>
      <p:sp>
        <p:nvSpPr>
          <p:cNvPr id="21" name="">
            <a:extLst xmlns:a="http://schemas.openxmlformats.org/drawingml/2006/main">
              <a:ext uri="{FF2B5EF4-FFF2-40B4-BE49-F238E27FC236}">
                <a16:creationId xmlns:a16="http://schemas.microsoft.com/office/drawing/2014/main" id="{E6FDD538-E63B-491C-B276-22F1C714B09B}"/>
              </a:ext>
            </a:extLst>
          </p:cNvPr>
          <p:cNvSpPr>
            <a:spLocks xmlns:a="http://schemas.openxmlformats.org/drawingml/2006/main" noGrp="1"/>
          </p:cNvSpPr>
          <p:nvPr/>
        </p:nvSpPr>
        <p:spPr>
          <a:xfrm xmlns:a="http://schemas.openxmlformats.org/drawingml/2006/main">
            <a:off x="4714875" y="2333625"/>
            <a:ext cx="1571625" cy="600075"/>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Prepare and</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quality check</a:t>
            </a:r>
          </a:p>
        </p:txBody>
      </p:sp>
      <p:sp>
        <p:nvSpPr>
          <p:cNvPr id="22" name="">
            <a:extLst xmlns:a="http://schemas.openxmlformats.org/drawingml/2006/main">
              <a:ext uri="{FF2B5EF4-FFF2-40B4-BE49-F238E27FC236}">
                <a16:creationId xmlns:a16="http://schemas.microsoft.com/office/drawing/2014/main" id="{D882E154-7874-48F7-9F0F-B1C3A6E9D073}"/>
              </a:ext>
            </a:extLst>
          </p:cNvPr>
          <p:cNvSpPr>
            <a:spLocks xmlns:a="http://schemas.openxmlformats.org/drawingml/2006/main" noGrp="1"/>
          </p:cNvSpPr>
          <p:nvPr/>
        </p:nvSpPr>
        <p:spPr>
          <a:xfrm xmlns:a="http://schemas.openxmlformats.org/drawingml/2006/main">
            <a:off x="6762750" y="2333625"/>
            <a:ext cx="1504950" cy="600075"/>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Pickup</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CP4 complete</a:t>
            </a:r>
          </a:p>
        </p:txBody>
      </p:sp>
      <p:cxnSp>
        <p:nvCxnSpPr>
          <p:cNvPr id="87" name=""/>
          <p:cNvCxnSpPr>
            <a:stCxn xmlns:a="http://schemas.openxmlformats.org/drawingml/2006/main" id="19" idx="3"/>
            <a:endCxn xmlns:a="http://schemas.openxmlformats.org/drawingml/2006/main" id="20" idx="1"/>
          </p:cNvCxnSpPr>
          <p:nvPr/>
        </p:nvCxnSpPr>
        <p:spPr>
          <a:xfrm xmlns:a="http://schemas.openxmlformats.org/drawingml/2006/main">
            <a:off x="2143125" y="2633663"/>
            <a:ext cx="476250" cy="0"/>
          </a:xfrm>
          <a:prstGeom xmlns:a="http://schemas.openxmlformats.org/drawingml/2006/main" prst="straightConnector1">
            <a:avLst/>
          </a:prstGeom>
          <a:ln xmlns:a="http://schemas.openxmlformats.org/drawingml/2006/main" w="14288">
            <a:solidFill>
              <a:srgbClr val="57068C"/>
            </a:solidFill>
            <a:tailEnd type="arrow" w="sm" len="sm"/>
          </a:ln>
        </p:spPr>
      </p:cxnSp>
      <p:cxnSp>
        <p:nvCxnSpPr>
          <p:cNvPr id="88" name=""/>
          <p:cNvCxnSpPr>
            <a:stCxn xmlns:a="http://schemas.openxmlformats.org/drawingml/2006/main" id="20" idx="3"/>
            <a:endCxn xmlns:a="http://schemas.openxmlformats.org/drawingml/2006/main" id="21" idx="1"/>
          </p:cNvCxnSpPr>
          <p:nvPr/>
        </p:nvCxnSpPr>
        <p:spPr>
          <a:xfrm xmlns:a="http://schemas.openxmlformats.org/drawingml/2006/main">
            <a:off x="4238625" y="2633663"/>
            <a:ext cx="476250" cy="0"/>
          </a:xfrm>
          <a:prstGeom xmlns:a="http://schemas.openxmlformats.org/drawingml/2006/main" prst="straightConnector1">
            <a:avLst/>
          </a:prstGeom>
          <a:ln xmlns:a="http://schemas.openxmlformats.org/drawingml/2006/main" w="14288">
            <a:solidFill>
              <a:srgbClr val="57068C"/>
            </a:solidFill>
            <a:tailEnd type="arrow" w="sm" len="sm"/>
          </a:ln>
        </p:spPr>
      </p:cxnSp>
      <p:cxnSp>
        <p:nvCxnSpPr>
          <p:cNvPr id="89" name=""/>
          <p:cNvCxnSpPr>
            <a:stCxn xmlns:a="http://schemas.openxmlformats.org/drawingml/2006/main" id="21" idx="3"/>
            <a:endCxn xmlns:a="http://schemas.openxmlformats.org/drawingml/2006/main" id="22" idx="1"/>
          </p:cNvCxnSpPr>
          <p:nvPr/>
        </p:nvCxnSpPr>
        <p:spPr>
          <a:xfrm xmlns:a="http://schemas.openxmlformats.org/drawingml/2006/main">
            <a:off x="6286500" y="2633663"/>
            <a:ext cx="476250" cy="0"/>
          </a:xfrm>
          <a:prstGeom xmlns:a="http://schemas.openxmlformats.org/drawingml/2006/main" prst="straightConnector1">
            <a:avLst/>
          </a:prstGeom>
          <a:ln xmlns:a="http://schemas.openxmlformats.org/drawingml/2006/main" w="14288">
            <a:solidFill>
              <a:srgbClr val="57068C"/>
            </a:solidFill>
            <a:tailEnd type="arrow" w="sm" len="sm"/>
          </a:ln>
        </p:spPr>
      </p:cxnSp>
      <p:sp>
        <p:nvSpPr>
          <p:cNvPr id="26" name="">
            <a:extLst xmlns:a="http://schemas.openxmlformats.org/drawingml/2006/main">
              <a:ext uri="{FF2B5EF4-FFF2-40B4-BE49-F238E27FC236}">
                <a16:creationId xmlns:a16="http://schemas.microsoft.com/office/drawing/2014/main" id="{5E17FE82-5692-4006-B402-8E9E00D0961C}"/>
              </a:ext>
            </a:extLst>
          </p:cNvPr>
          <p:cNvSpPr>
            <a:spLocks xmlns:a="http://schemas.openxmlformats.org/drawingml/2006/main" noGrp="1"/>
          </p:cNvSpPr>
          <p:nvPr/>
        </p:nvSpPr>
        <p:spPr>
          <a:xfrm xmlns:a="http://schemas.openxmlformats.org/drawingml/2006/main">
            <a:off x="2619375" y="3314700"/>
            <a:ext cx="1619250" cy="552450"/>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No: hold</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CP2 issue log</a:t>
            </a:r>
          </a:p>
        </p:txBody>
      </p:sp>
      <p:sp>
        <p:nvSpPr>
          <p:cNvPr id="27" name="">
            <a:extLst xmlns:a="http://schemas.openxmlformats.org/drawingml/2006/main">
              <a:ext uri="{FF2B5EF4-FFF2-40B4-BE49-F238E27FC236}">
                <a16:creationId xmlns:a16="http://schemas.microsoft.com/office/drawing/2014/main" id="{9BA72F3C-83A5-4135-9209-A0BCB87019FA}"/>
              </a:ext>
            </a:extLst>
          </p:cNvPr>
          <p:cNvSpPr>
            <a:spLocks xmlns:a="http://schemas.openxmlformats.org/drawingml/2006/main" noGrp="1"/>
          </p:cNvSpPr>
          <p:nvPr/>
        </p:nvSpPr>
        <p:spPr>
          <a:xfrm xmlns:a="http://schemas.openxmlformats.org/drawingml/2006/main">
            <a:off x="4714875" y="3314700"/>
            <a:ext cx="1571625" cy="552450"/>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D3 recovery</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Customer choice</a:t>
            </a:r>
          </a:p>
        </p:txBody>
      </p:sp>
      <p:sp>
        <p:nvSpPr>
          <p:cNvPr id="28" name="">
            <a:extLst xmlns:a="http://schemas.openxmlformats.org/drawingml/2006/main">
              <a:ext uri="{FF2B5EF4-FFF2-40B4-BE49-F238E27FC236}">
                <a16:creationId xmlns:a16="http://schemas.microsoft.com/office/drawing/2014/main" id="{D386FBC0-4C01-46EB-83A2-050CC74F6DBD}"/>
              </a:ext>
            </a:extLst>
          </p:cNvPr>
          <p:cNvSpPr>
            <a:spLocks xmlns:a="http://schemas.openxmlformats.org/drawingml/2006/main" noGrp="1"/>
          </p:cNvSpPr>
          <p:nvPr/>
        </p:nvSpPr>
        <p:spPr>
          <a:xfrm xmlns:a="http://schemas.openxmlformats.org/drawingml/2006/main">
            <a:off x="6619875" y="3267075"/>
            <a:ext cx="1695450" cy="647700"/>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CP3 change</a:t>
            </a:r>
          </a:p>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Consent; recheck D2</a:t>
            </a:r>
          </a:p>
        </p:txBody>
      </p:sp>
      <p:cxnSp>
        <p:nvCxnSpPr>
          <p:cNvPr id="93" name=""/>
          <p:cNvCxnSpPr>
            <a:stCxn xmlns:a="http://schemas.openxmlformats.org/drawingml/2006/main" id="20" idx="2"/>
            <a:endCxn xmlns:a="http://schemas.openxmlformats.org/drawingml/2006/main" id="26" idx="0"/>
          </p:cNvCxnSpPr>
          <p:nvPr/>
        </p:nvCxnSpPr>
        <p:spPr>
          <a:xfrm xmlns:a="http://schemas.openxmlformats.org/drawingml/2006/main">
            <a:off x="3429000" y="2933700"/>
            <a:ext cx="0" cy="381000"/>
          </a:xfrm>
          <a:prstGeom xmlns:a="http://schemas.openxmlformats.org/drawingml/2006/main" prst="straightConnector1">
            <a:avLst/>
          </a:prstGeom>
          <a:ln xmlns:a="http://schemas.openxmlformats.org/drawingml/2006/main" w="14288">
            <a:solidFill>
              <a:srgbClr val="57068C"/>
            </a:solidFill>
            <a:tailEnd type="arrow" w="sm" len="sm"/>
          </a:ln>
        </p:spPr>
      </p:cxnSp>
      <p:cxnSp>
        <p:nvCxnSpPr>
          <p:cNvPr id="94" name=""/>
          <p:cNvCxnSpPr>
            <a:stCxn xmlns:a="http://schemas.openxmlformats.org/drawingml/2006/main" id="26" idx="3"/>
            <a:endCxn xmlns:a="http://schemas.openxmlformats.org/drawingml/2006/main" id="27" idx="1"/>
          </p:cNvCxnSpPr>
          <p:nvPr/>
        </p:nvCxnSpPr>
        <p:spPr>
          <a:xfrm xmlns:a="http://schemas.openxmlformats.org/drawingml/2006/main">
            <a:off x="4238625" y="3590925"/>
            <a:ext cx="476250" cy="0"/>
          </a:xfrm>
          <a:prstGeom xmlns:a="http://schemas.openxmlformats.org/drawingml/2006/main" prst="straightConnector1">
            <a:avLst/>
          </a:prstGeom>
          <a:ln xmlns:a="http://schemas.openxmlformats.org/drawingml/2006/main" w="14288">
            <a:solidFill>
              <a:srgbClr val="57068C"/>
            </a:solidFill>
            <a:tailEnd type="arrow" w="sm" len="sm"/>
          </a:ln>
        </p:spPr>
      </p:cxnSp>
      <p:cxnSp>
        <p:nvCxnSpPr>
          <p:cNvPr id="95" name=""/>
          <p:cNvCxnSpPr>
            <a:stCxn xmlns:a="http://schemas.openxmlformats.org/drawingml/2006/main" id="27" idx="3"/>
            <a:endCxn xmlns:a="http://schemas.openxmlformats.org/drawingml/2006/main" id="28" idx="1"/>
          </p:cNvCxnSpPr>
          <p:nvPr/>
        </p:nvCxnSpPr>
        <p:spPr>
          <a:xfrm xmlns:a="http://schemas.openxmlformats.org/drawingml/2006/main">
            <a:off x="6286500" y="3590925"/>
            <a:ext cx="333375" cy="0"/>
          </a:xfrm>
          <a:prstGeom xmlns:a="http://schemas.openxmlformats.org/drawingml/2006/main" prst="straightConnector1">
            <a:avLst/>
          </a:prstGeom>
          <a:ln xmlns:a="http://schemas.openxmlformats.org/drawingml/2006/main" w="14288">
            <a:solidFill>
              <a:srgbClr val="57068C"/>
            </a:solidFill>
            <a:tailEnd type="arrow" w="sm" len="sm"/>
          </a:ln>
        </p:spPr>
      </p:cxnSp>
      <p:sp>
        <p:nvSpPr>
          <p:cNvPr id="32" name="">
            <a:extLst xmlns:a="http://schemas.openxmlformats.org/drawingml/2006/main">
              <a:ext uri="{FF2B5EF4-FFF2-40B4-BE49-F238E27FC236}">
                <a16:creationId xmlns:a16="http://schemas.microsoft.com/office/drawing/2014/main" id="{E5412EB9-1676-4D35-BEC5-092E940F08F5}"/>
              </a:ext>
            </a:extLst>
          </p:cNvPr>
          <p:cNvSpPr>
            <a:spLocks xmlns:a="http://schemas.openxmlformats.org/drawingml/2006/main" noGrp="1"/>
          </p:cNvSpPr>
          <p:nvPr/>
        </p:nvSpPr>
        <p:spPr>
          <a:xfrm xmlns:a="http://schemas.openxmlformats.org/drawingml/2006/main">
            <a:off x="2619375" y="4143375"/>
            <a:ext cx="5695950" cy="381000"/>
          </a:xfrm>
          <a:prstGeom xmlns:a="http://schemas.openxmlformats.org/drawingml/2006/main" prst="rect">
            <a:avLst/>
          </a:prstGeom>
          <a:solidFill xmlns:a="http://schemas.openxmlformats.org/drawingml/2006/main">
            <a:srgbClr val="F0E9F5"/>
          </a:solidFill>
          <a:ln xmlns:a="http://schemas.openxmlformats.org/drawingml/2006/main" w="9525">
            <a:solidFill>
              <a:srgbClr val="57068C"/>
            </a:solidFill>
          </a:ln>
        </p:spPr>
        <p:txBody>
          <a:bodyPr xmlns:a="http://schemas.openxmlformats.org/drawingml/2006/main" anchor="ctr">
            <a:noAutofit/>
          </a:bodyPr>
          <a:lstStyle xmlns:a="http://schemas.openxmlformats.org/drawingml/2006/main"/>
          <a:p xmlns:a="http://schemas.openxmlformats.org/drawingml/2006/main">
            <a:pPr algn="ctr">
              <a:buNone/>
              <a:defRPr sz="1275">
                <a:solidFill>
                  <a:srgbClr val="38303F"/>
                </a:solidFill>
                <a:latin typeface="Arial"/>
                <a:ea typeface="Arial"/>
                <a:cs typeface="Arial"/>
              </a:defRPr>
            </a:pPr>
            <a:r>
              <a:rPr sz="1275">
                <a:solidFill>
                  <a:srgbClr val="38303F"/>
                </a:solidFill>
                <a:latin typeface="Arial"/>
                <a:ea typeface="Arial"/>
                <a:cs typeface="Arial"/>
              </a:rPr>
              <a:t>Cancel: CP5 cancellation/payment state + CP6 refund/void record</a:t>
            </a:r>
          </a:p>
        </p:txBody>
      </p:sp>
      <p:cxnSp>
        <p:nvCxnSpPr>
          <p:cNvPr id="97" name=""/>
          <p:cNvCxnSpPr>
            <a:stCxn xmlns:a="http://schemas.openxmlformats.org/drawingml/2006/main" id="27" idx="2"/>
            <a:endCxn xmlns:a="http://schemas.openxmlformats.org/drawingml/2006/main" id="32" idx="0"/>
          </p:cNvCxnSpPr>
          <p:nvPr/>
        </p:nvCxnSpPr>
        <p:spPr>
          <a:xfrm xmlns:a="http://schemas.openxmlformats.org/drawingml/2006/main" flipH="1">
            <a:off x="5467350" y="3867150"/>
            <a:ext cx="33338" cy="276225"/>
          </a:xfrm>
          <a:prstGeom xmlns:a="http://schemas.openxmlformats.org/drawingml/2006/main" prst="bentConnector4">
            <a:avLst>
              <a:gd name="adj1" fmla="val 0"/>
              <a:gd name="adj2" fmla="val 50000"/>
            </a:avLst>
          </a:prstGeom>
          <a:ln xmlns:a="http://schemas.openxmlformats.org/drawingml/2006/main" w="14288">
            <a:solidFill>
              <a:srgbClr val="57068C"/>
            </a:solidFill>
            <a:tailEnd type="arrow" w="sm" len="sm"/>
          </a:ln>
        </p:spPr>
      </p:cxnSp>
    </p:spTree>
    <p:extLst>
      <p:ext uri="{BB962C8B-B14F-4D97-AF65-F5344CB8AC3E}">
        <p14:creationId xmlns:p14="http://schemas.microsoft.com/office/powerpoint/2010/main" val="8452566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8CF2F6-96F9-4884-8E42-4668A72749B4}"/>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57068C"/>
          </a:solidFill>
        </p:spPr>
      </p:sp>
      <p:sp>
        <p:nvSpPr>
          <p:cNvPr id="3" name="Text 1">
            <a:extLst xmlns:a="http://schemas.openxmlformats.org/drawingml/2006/main">
              <a:ext uri="{FF2B5EF4-FFF2-40B4-BE49-F238E27FC236}">
                <a16:creationId xmlns:a16="http://schemas.microsoft.com/office/drawing/2014/main" id="{678BAF29-5F8E-434D-ACCD-CA39BD8A9DF7}"/>
              </a:ext>
            </a:extLst>
          </p:cNvPr>
          <p:cNvSpPr>
            <a:spLocks xmlns:a="http://schemas.openxmlformats.org/drawingml/2006/main" noGrp="1"/>
          </p:cNvSpPr>
          <p:nvPr/>
        </p:nvSpPr>
        <p:spPr>
          <a:xfrm xmlns:a="http://schemas.openxmlformats.org/drawingml/2006/main">
            <a:off x="411480" y="256032"/>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b="1">
                <a:solidFill>
                  <a:srgbClr val="57068C"/>
                </a:solidFill>
                <a:latin typeface="Arial"/>
                <a:ea typeface="Arial"/>
                <a:cs typeface="Arial"/>
              </a:rPr>
              <a:t>NYU</a:t>
            </a:r>
            <a:r>
              <a:rPr sz="1300" b="1">
                <a:solidFill>
                  <a:srgbClr val="333333"/>
                </a:solidFill>
                <a:latin typeface="Arial"/>
                <a:ea typeface="Arial"/>
                <a:cs typeface="Arial"/>
              </a:rPr>
              <a:t> TANDON</a:t>
            </a:r>
            <a:endParaRPr sz="1300"/>
          </a:p>
        </p:txBody>
      </p:sp>
      <p:sp>
        <p:nvSpPr>
          <p:cNvPr id="4" name="Shape 2">
            <a:extLst xmlns:a="http://schemas.openxmlformats.org/drawingml/2006/main">
              <a:ext uri="{FF2B5EF4-FFF2-40B4-BE49-F238E27FC236}">
                <a16:creationId xmlns:a16="http://schemas.microsoft.com/office/drawing/2014/main" id="{D3272EB8-A88C-4004-B45A-AB606F39A21D}"/>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oundRect">
            <a:avLst>
              <a:gd name="adj" fmla="val 47619"/>
            </a:avLst>
          </a:prstGeom>
          <a:solidFill xmlns:a="http://schemas.openxmlformats.org/drawingml/2006/main">
            <a:srgbClr val="57068C"/>
          </a:solidFill>
        </p:spPr>
      </p:sp>
      <p:sp>
        <p:nvSpPr>
          <p:cNvPr id="5" name="Text 3">
            <a:extLst xmlns:a="http://schemas.openxmlformats.org/drawingml/2006/main">
              <a:ext uri="{FF2B5EF4-FFF2-40B4-BE49-F238E27FC236}">
                <a16:creationId xmlns:a16="http://schemas.microsoft.com/office/drawing/2014/main" id="{AEB69F76-1006-4789-A8F0-012D424067DC}"/>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spc="100">
                <a:solidFill>
                  <a:srgbClr val="FFFFFF"/>
                </a:solidFill>
                <a:latin typeface="Arial"/>
                <a:ea typeface="Arial"/>
                <a:cs typeface="Arial"/>
              </a:rPr>
              <a:t>AUTOMATE</a:t>
            </a:r>
            <a:endParaRPr sz="1100"/>
          </a:p>
        </p:txBody>
      </p:sp>
      <p:sp>
        <p:nvSpPr>
          <p:cNvPr id="6" name="Text 4">
            <a:extLst xmlns:a="http://schemas.openxmlformats.org/drawingml/2006/main">
              <a:ext uri="{FF2B5EF4-FFF2-40B4-BE49-F238E27FC236}">
                <a16:creationId xmlns:a16="http://schemas.microsoft.com/office/drawing/2014/main" id="{7D26E8A0-5FFF-4898-A30F-42288F27CFE6}"/>
              </a:ext>
            </a:extLst>
          </p:cNvPr>
          <p:cNvSpPr>
            <a:spLocks xmlns:a="http://schemas.openxmlformats.org/drawingml/2006/main" noGrp="1"/>
          </p:cNvSpPr>
          <p:nvPr/>
        </p:nvSpPr>
        <p:spPr>
          <a:xfrm xmlns:a="http://schemas.openxmlformats.org/drawingml/2006/main">
            <a:off x="411480" y="6419088"/>
            <a:ext cx="8686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5A5A5A"/>
                </a:solidFill>
                <a:latin typeface="Arial"/>
                <a:ea typeface="Arial"/>
                <a:cs typeface="Arial"/>
              </a:rPr>
              <a:t>S6  ·  Automation opportunity</a:t>
            </a:r>
            <a:r>
              <a:rPr sz="1000" b="1">
                <a:solidFill>
                  <a:srgbClr val="9A6ABA"/>
                </a:solidFill>
                <a:latin typeface="Arial"/>
                <a:ea typeface="Arial"/>
                <a:cs typeface="Arial"/>
              </a:rPr>
              <a:t>      Memo §4</a:t>
            </a:r>
            <a:endParaRPr sz="1000"/>
          </a:p>
        </p:txBody>
      </p:sp>
      <p:sp>
        <p:nvSpPr>
          <p:cNvPr id="7" name="Text 5">
            <a:extLst xmlns:a="http://schemas.openxmlformats.org/drawingml/2006/main">
              <a:ext uri="{FF2B5EF4-FFF2-40B4-BE49-F238E27FC236}">
                <a16:creationId xmlns:a16="http://schemas.microsoft.com/office/drawing/2014/main" id="{60178B3F-F616-4B7F-86B0-14FC5B1A87FE}"/>
              </a:ext>
            </a:extLst>
          </p:cNvPr>
          <p:cNvSpPr>
            <a:spLocks xmlns:a="http://schemas.openxmlformats.org/drawingml/2006/main" noGrp="1"/>
          </p:cNvSpPr>
          <p:nvPr/>
        </p:nvSpPr>
        <p:spPr>
          <a:xfrm xmlns:a="http://schemas.openxmlformats.org/drawingml/2006/main">
            <a:off x="8046720" y="6419088"/>
            <a:ext cx="374904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r">
              <a:buNone/>
              <a:defRPr sz="975">
                <a:solidFill>
                  <a:srgbClr val="505050"/>
                </a:solidFill>
                <a:latin typeface="Arial"/>
                <a:ea typeface="Arial"/>
                <a:cs typeface="Arial"/>
              </a:defRPr>
            </a:pPr>
            <a:r>
              <a:rPr sz="975">
                <a:solidFill>
                  <a:srgbClr val="505050"/>
                </a:solidFill>
                <a:latin typeface="Arial"/>
                <a:ea typeface="Arial"/>
                <a:cs typeface="Arial"/>
              </a:rPr>
              <a:t>IE-GY 9113B · Sweetgreen · Lab 2</a:t>
            </a:r>
            <a:endParaRPr sz="900"/>
          </a:p>
        </p:txBody>
      </p:sp>
      <p:sp>
        <p:nvSpPr>
          <p:cNvPr id="8" name="Text 6">
            <a:extLst xmlns:a="http://schemas.openxmlformats.org/drawingml/2006/main">
              <a:ext uri="{FF2B5EF4-FFF2-40B4-BE49-F238E27FC236}">
                <a16:creationId xmlns:a16="http://schemas.microsoft.com/office/drawing/2014/main" id="{E314A28E-D098-4D5A-988D-59D85C1C54F4}"/>
              </a:ext>
            </a:extLst>
          </p:cNvPr>
          <p:cNvSpPr>
            <a:spLocks xmlns:a="http://schemas.openxmlformats.org/drawingml/2006/main" noGrp="1"/>
          </p:cNvSpPr>
          <p:nvPr/>
        </p:nvSpPr>
        <p:spPr>
          <a:xfrm xmlns:a="http://schemas.openxmlformats.org/drawingml/2006/main">
            <a:off x="411480" y="868680"/>
            <a:ext cx="113385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57068C"/>
                </a:solidFill>
                <a:latin typeface="Arial"/>
                <a:ea typeface="Arial"/>
                <a:cs typeface="Arial"/>
              </a:rPr>
              <a:t>Automation opportunity</a:t>
            </a:r>
            <a:endParaRPr sz="3000"/>
          </a:p>
        </p:txBody>
      </p:sp>
      <p:sp>
        <p:nvSpPr>
          <p:cNvPr id="9" name="Shape 7">
            <a:extLst xmlns:a="http://schemas.openxmlformats.org/drawingml/2006/main">
              <a:ext uri="{FF2B5EF4-FFF2-40B4-BE49-F238E27FC236}">
                <a16:creationId xmlns:a16="http://schemas.microsoft.com/office/drawing/2014/main" id="{D11FD235-6BE9-4D43-A08B-D2179D2FB7C6}"/>
              </a:ext>
            </a:extLst>
          </p:cNvPr>
          <p:cNvSpPr>
            <a:spLocks xmlns:a="http://schemas.openxmlformats.org/drawingml/2006/main" noGrp="1"/>
          </p:cNvSpPr>
          <p:nvPr/>
        </p:nvSpPr>
        <p:spPr>
          <a:xfrm xmlns:a="http://schemas.openxmlformats.org/drawingml/2006/main">
            <a:off x="457200" y="1600200"/>
            <a:ext cx="11247120" cy="0"/>
          </a:xfrm>
          <a:prstGeom xmlns:a="http://schemas.openxmlformats.org/drawingml/2006/main" prst="line">
            <a:avLst/>
          </a:prstGeom>
          <a:noFill xmlns:a="http://schemas.openxmlformats.org/drawingml/2006/main"/>
          <a:ln xmlns:a="http://schemas.openxmlformats.org/drawingml/2006/main" w="19050">
            <a:solidFill>
              <a:srgbClr val="9A6ABA"/>
            </a:solidFill>
            <a:prstDash val="solid"/>
          </a:ln>
        </p:spPr>
      </p:sp>
      <p:sp>
        <p:nvSpPr>
          <p:cNvPr id="10" name="Text 8">
            <a:extLst xmlns:a="http://schemas.openxmlformats.org/drawingml/2006/main">
              <a:ext uri="{FF2B5EF4-FFF2-40B4-BE49-F238E27FC236}">
                <a16:creationId xmlns:a16="http://schemas.microsoft.com/office/drawing/2014/main" id="{60E50E5E-8F42-423B-888D-60EA73B7635A}"/>
              </a:ext>
            </a:extLst>
          </p:cNvPr>
          <p:cNvSpPr>
            <a:spLocks xmlns:a="http://schemas.openxmlformats.org/drawingml/2006/main" noGrp="1"/>
          </p:cNvSpPr>
          <p:nvPr/>
        </p:nvSpPr>
        <p:spPr>
          <a:xfrm xmlns:a="http://schemas.openxmlformats.org/drawingml/2006/main">
            <a:off x="457200" y="1691640"/>
            <a:ext cx="11155680" cy="4572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buNone/>
              <a:defRPr sz="1650">
                <a:solidFill>
                  <a:srgbClr val="505050"/>
                </a:solidFill>
                <a:latin typeface="Arial"/>
                <a:ea typeface="Arial"/>
                <a:cs typeface="Arial"/>
              </a:defRPr>
            </a:pPr>
            <a:r>
              <a:rPr sz="1650" i="1">
                <a:solidFill>
                  <a:srgbClr val="505050"/>
                </a:solidFill>
                <a:latin typeface="Arial"/>
                <a:ea typeface="Arial"/>
                <a:cs typeface="Arial"/>
              </a:rPr>
              <a:t>Lab 1 identified D2 availability. Lab 2 builds and tests the automation.</a:t>
            </a:r>
            <a:endParaRPr sz="1500"/>
          </a:p>
        </p:txBody>
      </p:sp>
      <p:sp>
        <p:nvSpPr>
          <p:cNvPr id="11" name="Shape 9">
            <a:extLst xmlns:a="http://schemas.openxmlformats.org/drawingml/2006/main">
              <a:ext uri="{FF2B5EF4-FFF2-40B4-BE49-F238E27FC236}">
                <a16:creationId xmlns:a16="http://schemas.microsoft.com/office/drawing/2014/main" id="{BB4A1DE9-6519-4803-9618-8321A84DB341}"/>
              </a:ext>
            </a:extLst>
          </p:cNvPr>
          <p:cNvSpPr>
            <a:spLocks xmlns:a="http://schemas.openxmlformats.org/drawingml/2006/main" noGrp="1"/>
          </p:cNvSpPr>
          <p:nvPr/>
        </p:nvSpPr>
        <p:spPr>
          <a:xfrm xmlns:a="http://schemas.openxmlformats.org/drawingml/2006/main">
            <a:off x="8549640" y="2240280"/>
            <a:ext cx="3200400" cy="3063240"/>
          </a:xfrm>
          <a:prstGeom xmlns:a="http://schemas.openxmlformats.org/drawingml/2006/main" prst="rect">
            <a:avLst/>
          </a:prstGeom>
          <a:solidFill xmlns:a="http://schemas.openxmlformats.org/drawingml/2006/main">
            <a:srgbClr val="EFE7F5"/>
          </a:solidFill>
          <a:ln xmlns:a="http://schemas.openxmlformats.org/drawingml/2006/main" w="12700">
            <a:solidFill>
              <a:srgbClr val="9A6ABA"/>
            </a:solidFill>
            <a:prstDash val="solid"/>
          </a:ln>
        </p:spPr>
      </p:sp>
      <p:sp>
        <p:nvSpPr>
          <p:cNvPr id="12" name="Shape 10">
            <a:extLst xmlns:a="http://schemas.openxmlformats.org/drawingml/2006/main">
              <a:ext uri="{FF2B5EF4-FFF2-40B4-BE49-F238E27FC236}">
                <a16:creationId xmlns:a16="http://schemas.microsoft.com/office/drawing/2014/main" id="{4AF88880-5222-45F0-AC0F-1C336F86A7D7}"/>
              </a:ext>
            </a:extLst>
          </p:cNvPr>
          <p:cNvSpPr>
            <a:spLocks xmlns:a="http://schemas.openxmlformats.org/drawingml/2006/main" noGrp="1"/>
          </p:cNvSpPr>
          <p:nvPr/>
        </p:nvSpPr>
        <p:spPr>
          <a:xfrm xmlns:a="http://schemas.openxmlformats.org/drawingml/2006/main">
            <a:off x="8549640" y="2240280"/>
            <a:ext cx="73152" cy="3063240"/>
          </a:xfrm>
          <a:prstGeom xmlns:a="http://schemas.openxmlformats.org/drawingml/2006/main" prst="rect">
            <a:avLst/>
          </a:prstGeom>
          <a:solidFill xmlns:a="http://schemas.openxmlformats.org/drawingml/2006/main">
            <a:srgbClr val="57068C"/>
          </a:solidFill>
        </p:spPr>
      </p:sp>
      <p:sp>
        <p:nvSpPr>
          <p:cNvPr id="13" name="Text 11">
            <a:extLst xmlns:a="http://schemas.openxmlformats.org/drawingml/2006/main">
              <a:ext uri="{FF2B5EF4-FFF2-40B4-BE49-F238E27FC236}">
                <a16:creationId xmlns:a16="http://schemas.microsoft.com/office/drawing/2014/main" id="{5866F14C-CCCE-4F5D-AB3B-2A21631E761C}"/>
              </a:ext>
            </a:extLst>
          </p:cNvPr>
          <p:cNvSpPr>
            <a:spLocks xmlns:a="http://schemas.openxmlformats.org/drawingml/2006/main" noGrp="1"/>
          </p:cNvSpPr>
          <p:nvPr/>
        </p:nvSpPr>
        <p:spPr>
          <a:xfrm xmlns:a="http://schemas.openxmlformats.org/drawingml/2006/main">
            <a:off x="8778240" y="2468880"/>
            <a:ext cx="2743200" cy="26517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TESTED IN MAKE</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Positive item match</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Current availability</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Source age 0-60 min</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NEW, no exception</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Staff + data review</a:t>
            </a:r>
            <a:endParaRPr sz="1200"/>
          </a:p>
          <a:p xmlns:a="http://schemas.openxmlformats.org/drawingml/2006/main">
            <a:pPr marL="0" indent="0" algn="l">
              <a:lnSpc>
                <a:spcPct val="105000"/>
              </a:lnSpc>
              <a:buNone/>
            </a:pPr>
            <a:r>
              <a:rPr sz="1300">
                <a:solidFill>
                  <a:srgbClr val="333333"/>
                </a:solidFill>
                <a:latin typeface="Arial"/>
                <a:ea typeface="Arial"/>
                <a:cs typeface="Arial"/>
              </a:rPr>
              <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REMAINING</a:t>
            </a:r>
            <a:endParaRPr sz="1200"/>
          </a:p>
          <a:p xmlns:a="http://schemas.openxmlformats.org/drawingml/2006/main">
            <a:pPr marL="0" indent="0" algn="l">
              <a:lnSpc>
                <a:spcPct val="105000"/>
              </a:lnSpc>
              <a:buNone/>
              <a:defRPr sz="1500">
                <a:solidFill>
                  <a:srgbClr val="505050"/>
                </a:solidFill>
                <a:latin typeface="Arial"/>
                <a:ea typeface="Arial"/>
                <a:cs typeface="Arial"/>
              </a:defRPr>
            </a:pPr>
            <a:r>
              <a:rPr sz="1500">
                <a:solidFill>
                  <a:srgbClr val="505050"/>
                </a:solidFill>
                <a:latin typeface="Arial"/>
                <a:ea typeface="Arial"/>
                <a:cs typeface="Arial"/>
              </a:rPr>
              <a:t>Live feed + deduplication</a:t>
            </a:r>
            <a:endParaRPr sz="1200"/>
          </a:p>
        </p:txBody>
      </p:sp>
      <p:sp>
        <p:nvSpPr>
          <p:cNvPr id="14" name="Text 12">
            <a:extLst xmlns:a="http://schemas.openxmlformats.org/drawingml/2006/main">
              <a:ext uri="{FF2B5EF4-FFF2-40B4-BE49-F238E27FC236}">
                <a16:creationId xmlns:a16="http://schemas.microsoft.com/office/drawing/2014/main" id="{44E9D3B2-DD95-429D-88DA-F86C9AD45E64}"/>
              </a:ext>
            </a:extLst>
          </p:cNvPr>
          <p:cNvSpPr>
            <a:spLocks xmlns:a="http://schemas.openxmlformats.org/drawingml/2006/main" noGrp="1"/>
          </p:cNvSpPr>
          <p:nvPr/>
        </p:nvSpPr>
        <p:spPr>
          <a:xfrm xmlns:a="http://schemas.openxmlformats.org/drawingml/2006/main">
            <a:off x="457200" y="2286000"/>
            <a:ext cx="7772400" cy="2286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First: check every original line against kitchen availability.</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Now: log every failed approval check for human review.</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Human-led: D3 recovery, consent and customization feasibility.</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The first build writes a recommendation to an audit sheet.</a:t>
            </a:r>
            <a:endParaRPr sz="1600"/>
          </a:p>
        </p:txBody>
      </p:sp>
      <p:sp>
        <p:nvSpPr>
          <p:cNvPr id="15" name="Shape 13">
            <a:extLst xmlns:a="http://schemas.openxmlformats.org/drawingml/2006/main">
              <a:ext uri="{FF2B5EF4-FFF2-40B4-BE49-F238E27FC236}">
                <a16:creationId xmlns:a16="http://schemas.microsoft.com/office/drawing/2014/main" id="{9D6D56BC-82BF-43EB-B572-2EC764CF320F}"/>
              </a:ext>
            </a:extLst>
          </p:cNvPr>
          <p:cNvSpPr>
            <a:spLocks xmlns:a="http://schemas.openxmlformats.org/drawingml/2006/main" noGrp="1"/>
          </p:cNvSpPr>
          <p:nvPr/>
        </p:nvSpPr>
        <p:spPr>
          <a:xfrm xmlns:a="http://schemas.openxmlformats.org/drawingml/2006/main">
            <a:off x="457200" y="4709160"/>
            <a:ext cx="7772400" cy="841248"/>
          </a:xfrm>
          <a:prstGeom xmlns:a="http://schemas.openxmlformats.org/drawingml/2006/main" prst="roundRect">
            <a:avLst>
              <a:gd name="adj" fmla="val 6522"/>
            </a:avLst>
          </a:prstGeom>
          <a:solidFill xmlns:a="http://schemas.openxmlformats.org/drawingml/2006/main">
            <a:srgbClr val="F3ECF9"/>
          </a:solidFill>
          <a:ln xmlns:a="http://schemas.openxmlformats.org/drawingml/2006/main" w="9525">
            <a:solidFill>
              <a:srgbClr val="9A6ABA"/>
            </a:solidFill>
            <a:prstDash val="solid"/>
          </a:ln>
        </p:spPr>
      </p:sp>
      <p:sp>
        <p:nvSpPr>
          <p:cNvPr id="16" name="Shape 14">
            <a:extLst xmlns:a="http://schemas.openxmlformats.org/drawingml/2006/main">
              <a:ext uri="{FF2B5EF4-FFF2-40B4-BE49-F238E27FC236}">
                <a16:creationId xmlns:a16="http://schemas.microsoft.com/office/drawing/2014/main" id="{68567931-CEE8-481D-A36D-D3D6D27D5CBE}"/>
              </a:ext>
            </a:extLst>
          </p:cNvPr>
          <p:cNvSpPr>
            <a:spLocks xmlns:a="http://schemas.openxmlformats.org/drawingml/2006/main" noGrp="1"/>
          </p:cNvSpPr>
          <p:nvPr/>
        </p:nvSpPr>
        <p:spPr>
          <a:xfrm xmlns:a="http://schemas.openxmlformats.org/drawingml/2006/main">
            <a:off x="457200" y="4709160"/>
            <a:ext cx="64008" cy="841248"/>
          </a:xfrm>
          <a:prstGeom xmlns:a="http://schemas.openxmlformats.org/drawingml/2006/main" prst="rect">
            <a:avLst/>
          </a:prstGeom>
          <a:solidFill xmlns:a="http://schemas.openxmlformats.org/drawingml/2006/main">
            <a:srgbClr val="6B2FA0"/>
          </a:solidFill>
        </p:spPr>
      </p:sp>
      <p:sp>
        <p:nvSpPr>
          <p:cNvPr id="17" name="Text 15">
            <a:extLst xmlns:a="http://schemas.openxmlformats.org/drawingml/2006/main">
              <a:ext uri="{FF2B5EF4-FFF2-40B4-BE49-F238E27FC236}">
                <a16:creationId xmlns:a16="http://schemas.microsoft.com/office/drawing/2014/main" id="{8A73A91D-DFE4-49B9-B080-63EE035884ED}"/>
              </a:ext>
            </a:extLst>
          </p:cNvPr>
          <p:cNvSpPr>
            <a:spLocks xmlns:a="http://schemas.openxmlformats.org/drawingml/2006/main" noGrp="1"/>
          </p:cNvSpPr>
          <p:nvPr/>
        </p:nvSpPr>
        <p:spPr>
          <a:xfrm xmlns:a="http://schemas.openxmlformats.org/drawingml/2006/main">
            <a:off x="658368" y="4764024"/>
            <a:ext cx="7406640" cy="73152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lnSpc>
                <a:spcPct val="100000"/>
              </a:lnSpc>
              <a:buNone/>
              <a:defRPr sz="1425">
                <a:solidFill>
                  <a:srgbClr val="505050"/>
                </a:solidFill>
                <a:latin typeface="Arial"/>
                <a:ea typeface="Arial"/>
                <a:cs typeface="Arial"/>
              </a:defRPr>
            </a:pPr>
            <a:r>
              <a:rPr sz="1425" b="1" spc="100">
                <a:solidFill>
                  <a:srgbClr val="505050"/>
                </a:solidFill>
                <a:latin typeface="Arial"/>
                <a:ea typeface="Arial"/>
                <a:cs typeface="Arial"/>
              </a:rPr>
              <a:t>Five modules: Search Rows, Router and three audit writers for approval, staff recovery review and data repair review.</a:t>
            </a:r>
            <a:endParaRPr sz="1100"/>
          </a:p>
        </p:txBody>
      </p:sp>
      <p:sp>
        <p:nvSpPr>
          <p:cNvPr id="18" name="Text 16">
            <a:extLst xmlns:a="http://schemas.openxmlformats.org/drawingml/2006/main">
              <a:ext uri="{FF2B5EF4-FFF2-40B4-BE49-F238E27FC236}">
                <a16:creationId xmlns:a16="http://schemas.microsoft.com/office/drawing/2014/main" id="{5698001C-675F-4CA6-83F4-E7B6E16A0D29}"/>
              </a:ext>
            </a:extLst>
          </p:cNvPr>
          <p:cNvSpPr>
            <a:spLocks xmlns:a="http://schemas.openxmlformats.org/drawingml/2006/main" noGrp="1"/>
          </p:cNvSpPr>
          <p:nvPr/>
        </p:nvSpPr>
        <p:spPr>
          <a:xfrm xmlns:a="http://schemas.openxmlformats.org/drawingml/2006/main">
            <a:off x="457200" y="5623560"/>
            <a:ext cx="777240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125">
                <a:solidFill>
                  <a:srgbClr val="505050"/>
                </a:solidFill>
                <a:latin typeface="Arial"/>
                <a:ea typeface="Arial"/>
                <a:cs typeface="Arial"/>
              </a:defRPr>
            </a:pPr>
            <a:r>
              <a:rPr sz="1125" i="1">
                <a:solidFill>
                  <a:srgbClr val="505050"/>
                </a:solidFill>
                <a:latin typeface="Arial"/>
                <a:ea typeface="Arial"/>
                <a:cs typeface="Arial"/>
              </a:rPr>
              <a:t>60-minute freshness limit is illustrative. Live use needs approved limits and duplicate protection.</a:t>
            </a:r>
            <a:endParaRPr sz="1100"/>
          </a:p>
        </p:txBody>
      </p:sp>
    </p:spTree>
    <p:extLst>
      <p:ext uri="{BB962C8B-B14F-4D97-AF65-F5344CB8AC3E}">
        <p14:creationId xmlns:p14="http://schemas.microsoft.com/office/powerpoint/2010/main" val="3862215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0AA4A4D-5C9B-4EB8-A808-142B7DA6E335}"/>
              </a:ext>
            </a:extLst>
          </p:cNvPr>
          <p:cNvSpPr>
            <a:spLocks xmlns:a="http://schemas.openxmlformats.org/drawingml/2006/main" noGrp="1"/>
          </p:cNvSpPr>
          <p:nvPr/>
        </p:nvSpPr>
        <p:spPr>
          <a:xfrm xmlns:a="http://schemas.openxmlformats.org/drawingml/2006/main">
            <a:off x="0" y="0"/>
            <a:ext cx="146304" cy="6858000"/>
          </a:xfrm>
          <a:prstGeom xmlns:a="http://schemas.openxmlformats.org/drawingml/2006/main" prst="rect">
            <a:avLst/>
          </a:prstGeom>
          <a:solidFill xmlns:a="http://schemas.openxmlformats.org/drawingml/2006/main">
            <a:srgbClr val="57068C"/>
          </a:solidFill>
        </p:spPr>
      </p:sp>
      <p:sp>
        <p:nvSpPr>
          <p:cNvPr id="3" name="Text 1">
            <a:extLst xmlns:a="http://schemas.openxmlformats.org/drawingml/2006/main">
              <a:ext uri="{FF2B5EF4-FFF2-40B4-BE49-F238E27FC236}">
                <a16:creationId xmlns:a16="http://schemas.microsoft.com/office/drawing/2014/main" id="{7309A1BF-226B-4F6D-9328-00DBA32733D9}"/>
              </a:ext>
            </a:extLst>
          </p:cNvPr>
          <p:cNvSpPr>
            <a:spLocks xmlns:a="http://schemas.openxmlformats.org/drawingml/2006/main" noGrp="1"/>
          </p:cNvSpPr>
          <p:nvPr/>
        </p:nvSpPr>
        <p:spPr>
          <a:xfrm xmlns:a="http://schemas.openxmlformats.org/drawingml/2006/main">
            <a:off x="411480" y="256032"/>
            <a:ext cx="4572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b="1">
                <a:solidFill>
                  <a:srgbClr val="57068C"/>
                </a:solidFill>
                <a:latin typeface="Arial"/>
                <a:ea typeface="Arial"/>
                <a:cs typeface="Arial"/>
              </a:rPr>
              <a:t>NYU</a:t>
            </a:r>
            <a:r>
              <a:rPr sz="1300" b="1">
                <a:solidFill>
                  <a:srgbClr val="333333"/>
                </a:solidFill>
                <a:latin typeface="Arial"/>
                <a:ea typeface="Arial"/>
                <a:cs typeface="Arial"/>
              </a:rPr>
              <a:t> TANDON</a:t>
            </a:r>
            <a:endParaRPr sz="1300"/>
          </a:p>
        </p:txBody>
      </p:sp>
      <p:sp>
        <p:nvSpPr>
          <p:cNvPr id="4" name="Shape 2">
            <a:extLst xmlns:a="http://schemas.openxmlformats.org/drawingml/2006/main">
              <a:ext uri="{FF2B5EF4-FFF2-40B4-BE49-F238E27FC236}">
                <a16:creationId xmlns:a16="http://schemas.microsoft.com/office/drawing/2014/main" id="{1640B937-D661-43ED-9481-738AE72BBF89}"/>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oundRect">
            <a:avLst>
              <a:gd name="adj" fmla="val 47619"/>
            </a:avLst>
          </a:prstGeom>
          <a:solidFill xmlns:a="http://schemas.openxmlformats.org/drawingml/2006/main">
            <a:srgbClr val="57068C"/>
          </a:solidFill>
        </p:spPr>
      </p:sp>
      <p:sp>
        <p:nvSpPr>
          <p:cNvPr id="5" name="Text 3">
            <a:extLst xmlns:a="http://schemas.openxmlformats.org/drawingml/2006/main">
              <a:ext uri="{FF2B5EF4-FFF2-40B4-BE49-F238E27FC236}">
                <a16:creationId xmlns:a16="http://schemas.microsoft.com/office/drawing/2014/main" id="{D3B04559-8FA4-425A-BC8A-F8678A08D360}"/>
              </a:ext>
            </a:extLst>
          </p:cNvPr>
          <p:cNvSpPr>
            <a:spLocks xmlns:a="http://schemas.openxmlformats.org/drawingml/2006/main" noGrp="1"/>
          </p:cNvSpPr>
          <p:nvPr/>
        </p:nvSpPr>
        <p:spPr>
          <a:xfrm xmlns:a="http://schemas.openxmlformats.org/drawingml/2006/main">
            <a:off x="9966960" y="256032"/>
            <a:ext cx="17830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spc="100">
                <a:solidFill>
                  <a:srgbClr val="FFFFFF"/>
                </a:solidFill>
                <a:latin typeface="Arial"/>
                <a:ea typeface="Arial"/>
                <a:cs typeface="Arial"/>
              </a:rPr>
              <a:t>AUTOMATE</a:t>
            </a:r>
            <a:endParaRPr sz="1100"/>
          </a:p>
        </p:txBody>
      </p:sp>
      <p:sp>
        <p:nvSpPr>
          <p:cNvPr id="6" name="Text 4">
            <a:extLst xmlns:a="http://schemas.openxmlformats.org/drawingml/2006/main">
              <a:ext uri="{FF2B5EF4-FFF2-40B4-BE49-F238E27FC236}">
                <a16:creationId xmlns:a16="http://schemas.microsoft.com/office/drawing/2014/main" id="{C1285E6E-BBAB-4670-8882-3FDDAE32FE00}"/>
              </a:ext>
            </a:extLst>
          </p:cNvPr>
          <p:cNvSpPr>
            <a:spLocks xmlns:a="http://schemas.openxmlformats.org/drawingml/2006/main" noGrp="1"/>
          </p:cNvSpPr>
          <p:nvPr/>
        </p:nvSpPr>
        <p:spPr>
          <a:xfrm xmlns:a="http://schemas.openxmlformats.org/drawingml/2006/main">
            <a:off x="411480" y="6419088"/>
            <a:ext cx="86868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rgbClr val="5A5A5A"/>
                </a:solidFill>
                <a:latin typeface="Arial"/>
                <a:ea typeface="Arial"/>
                <a:cs typeface="Arial"/>
              </a:rPr>
              <a:t>S7  ·  Automation journey</a:t>
            </a:r>
            <a:r>
              <a:rPr sz="1000" b="1">
                <a:solidFill>
                  <a:srgbClr val="9A6ABA"/>
                </a:solidFill>
                <a:latin typeface="Arial"/>
                <a:ea typeface="Arial"/>
                <a:cs typeface="Arial"/>
              </a:rPr>
              <a:t>      Memo §4</a:t>
            </a:r>
            <a:endParaRPr sz="1000"/>
          </a:p>
        </p:txBody>
      </p:sp>
      <p:sp>
        <p:nvSpPr>
          <p:cNvPr id="7" name="Text 5">
            <a:extLst xmlns:a="http://schemas.openxmlformats.org/drawingml/2006/main">
              <a:ext uri="{FF2B5EF4-FFF2-40B4-BE49-F238E27FC236}">
                <a16:creationId xmlns:a16="http://schemas.microsoft.com/office/drawing/2014/main" id="{01D88487-5264-476B-947B-E4DC5796D887}"/>
              </a:ext>
            </a:extLst>
          </p:cNvPr>
          <p:cNvSpPr>
            <a:spLocks xmlns:a="http://schemas.openxmlformats.org/drawingml/2006/main" noGrp="1"/>
          </p:cNvSpPr>
          <p:nvPr/>
        </p:nvSpPr>
        <p:spPr>
          <a:xfrm xmlns:a="http://schemas.openxmlformats.org/drawingml/2006/main">
            <a:off x="8046720" y="6419088"/>
            <a:ext cx="374904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r">
              <a:buNone/>
              <a:defRPr sz="975">
                <a:solidFill>
                  <a:srgbClr val="505050"/>
                </a:solidFill>
                <a:latin typeface="Arial"/>
                <a:ea typeface="Arial"/>
                <a:cs typeface="Arial"/>
              </a:defRPr>
            </a:pPr>
            <a:r>
              <a:rPr sz="975">
                <a:solidFill>
                  <a:srgbClr val="505050"/>
                </a:solidFill>
                <a:latin typeface="Arial"/>
                <a:ea typeface="Arial"/>
                <a:cs typeface="Arial"/>
              </a:rPr>
              <a:t>IE-GY 9113B · Sweetgreen · Lab 2</a:t>
            </a:r>
            <a:endParaRPr sz="900"/>
          </a:p>
        </p:txBody>
      </p:sp>
      <p:sp>
        <p:nvSpPr>
          <p:cNvPr id="8" name="Text 6">
            <a:extLst xmlns:a="http://schemas.openxmlformats.org/drawingml/2006/main">
              <a:ext uri="{FF2B5EF4-FFF2-40B4-BE49-F238E27FC236}">
                <a16:creationId xmlns:a16="http://schemas.microsoft.com/office/drawing/2014/main" id="{D40D2493-72E1-425F-821C-8703425035F4}"/>
              </a:ext>
            </a:extLst>
          </p:cNvPr>
          <p:cNvSpPr>
            <a:spLocks xmlns:a="http://schemas.openxmlformats.org/drawingml/2006/main" noGrp="1"/>
          </p:cNvSpPr>
          <p:nvPr/>
        </p:nvSpPr>
        <p:spPr>
          <a:xfrm xmlns:a="http://schemas.openxmlformats.org/drawingml/2006/main">
            <a:off x="411480" y="868680"/>
            <a:ext cx="113385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57068C"/>
                </a:solidFill>
                <a:latin typeface="Arial"/>
                <a:ea typeface="Arial"/>
                <a:cs typeface="Arial"/>
              </a:rPr>
              <a:t>Automation journey</a:t>
            </a:r>
            <a:endParaRPr sz="3000"/>
          </a:p>
        </p:txBody>
      </p:sp>
      <p:sp>
        <p:nvSpPr>
          <p:cNvPr id="9" name="Shape 7">
            <a:extLst xmlns:a="http://schemas.openxmlformats.org/drawingml/2006/main">
              <a:ext uri="{FF2B5EF4-FFF2-40B4-BE49-F238E27FC236}">
                <a16:creationId xmlns:a16="http://schemas.microsoft.com/office/drawing/2014/main" id="{2AC8F30B-60E6-4717-8D77-8D3E74E014DA}"/>
              </a:ext>
            </a:extLst>
          </p:cNvPr>
          <p:cNvSpPr>
            <a:spLocks xmlns:a="http://schemas.openxmlformats.org/drawingml/2006/main" noGrp="1"/>
          </p:cNvSpPr>
          <p:nvPr/>
        </p:nvSpPr>
        <p:spPr>
          <a:xfrm xmlns:a="http://schemas.openxmlformats.org/drawingml/2006/main">
            <a:off x="457200" y="1600200"/>
            <a:ext cx="11247120" cy="0"/>
          </a:xfrm>
          <a:prstGeom xmlns:a="http://schemas.openxmlformats.org/drawingml/2006/main" prst="line">
            <a:avLst/>
          </a:prstGeom>
          <a:noFill xmlns:a="http://schemas.openxmlformats.org/drawingml/2006/main"/>
          <a:ln xmlns:a="http://schemas.openxmlformats.org/drawingml/2006/main" w="19050">
            <a:solidFill>
              <a:srgbClr val="9A6ABA"/>
            </a:solidFill>
            <a:prstDash val="solid"/>
          </a:ln>
        </p:spPr>
      </p:sp>
      <p:sp>
        <p:nvSpPr>
          <p:cNvPr id="10" name="Text 8">
            <a:extLst xmlns:a="http://schemas.openxmlformats.org/drawingml/2006/main">
              <a:ext uri="{FF2B5EF4-FFF2-40B4-BE49-F238E27FC236}">
                <a16:creationId xmlns:a16="http://schemas.microsoft.com/office/drawing/2014/main" id="{F7AA430A-2CB1-42C7-905C-2E7177943E98}"/>
              </a:ext>
            </a:extLst>
          </p:cNvPr>
          <p:cNvSpPr>
            <a:spLocks xmlns:a="http://schemas.openxmlformats.org/drawingml/2006/main" noGrp="1"/>
          </p:cNvSpPr>
          <p:nvPr/>
        </p:nvSpPr>
        <p:spPr>
          <a:xfrm xmlns:a="http://schemas.openxmlformats.org/drawingml/2006/main">
            <a:off x="457200" y="1691640"/>
            <a:ext cx="11155680" cy="4572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buNone/>
              <a:defRPr sz="1650">
                <a:solidFill>
                  <a:srgbClr val="505050"/>
                </a:solidFill>
                <a:latin typeface="Arial"/>
                <a:ea typeface="Arial"/>
                <a:cs typeface="Arial"/>
              </a:defRPr>
            </a:pPr>
            <a:r>
              <a:rPr sz="1650" i="1">
                <a:solidFill>
                  <a:srgbClr val="505050"/>
                </a:solidFill>
                <a:latin typeface="Arial"/>
                <a:ea typeface="Arial"/>
                <a:cs typeface="Arial"/>
              </a:rPr>
              <a:t>Lab 2 tests: seven unique orders, two normal and five problem cases.</a:t>
            </a:r>
            <a:endParaRPr sz="1500"/>
          </a:p>
        </p:txBody>
      </p:sp>
      <p:sp>
        <p:nvSpPr>
          <p:cNvPr id="11" name="Shape 9">
            <a:extLst xmlns:a="http://schemas.openxmlformats.org/drawingml/2006/main">
              <a:ext uri="{FF2B5EF4-FFF2-40B4-BE49-F238E27FC236}">
                <a16:creationId xmlns:a16="http://schemas.microsoft.com/office/drawing/2014/main" id="{CB3D8D50-E6DD-4A99-82CA-15DDAC6A55AD}"/>
              </a:ext>
            </a:extLst>
          </p:cNvPr>
          <p:cNvSpPr>
            <a:spLocks xmlns:a="http://schemas.openxmlformats.org/drawingml/2006/main" noGrp="1"/>
          </p:cNvSpPr>
          <p:nvPr/>
        </p:nvSpPr>
        <p:spPr>
          <a:xfrm xmlns:a="http://schemas.openxmlformats.org/drawingml/2006/main">
            <a:off x="8549640" y="2240280"/>
            <a:ext cx="3200400" cy="3063240"/>
          </a:xfrm>
          <a:prstGeom xmlns:a="http://schemas.openxmlformats.org/drawingml/2006/main" prst="rect">
            <a:avLst/>
          </a:prstGeom>
          <a:solidFill xmlns:a="http://schemas.openxmlformats.org/drawingml/2006/main">
            <a:srgbClr val="EFE7F5"/>
          </a:solidFill>
          <a:ln xmlns:a="http://schemas.openxmlformats.org/drawingml/2006/main" w="12700">
            <a:solidFill>
              <a:srgbClr val="9A6ABA"/>
            </a:solidFill>
            <a:prstDash val="solid"/>
          </a:ln>
        </p:spPr>
      </p:sp>
      <p:sp>
        <p:nvSpPr>
          <p:cNvPr id="12" name="Shape 10">
            <a:extLst xmlns:a="http://schemas.openxmlformats.org/drawingml/2006/main">
              <a:ext uri="{FF2B5EF4-FFF2-40B4-BE49-F238E27FC236}">
                <a16:creationId xmlns:a16="http://schemas.microsoft.com/office/drawing/2014/main" id="{6F363F67-9A15-4C23-96AA-6498EE6FC1DA}"/>
              </a:ext>
            </a:extLst>
          </p:cNvPr>
          <p:cNvSpPr>
            <a:spLocks xmlns:a="http://schemas.openxmlformats.org/drawingml/2006/main" noGrp="1"/>
          </p:cNvSpPr>
          <p:nvPr/>
        </p:nvSpPr>
        <p:spPr>
          <a:xfrm xmlns:a="http://schemas.openxmlformats.org/drawingml/2006/main">
            <a:off x="8549640" y="2240280"/>
            <a:ext cx="73152" cy="3063240"/>
          </a:xfrm>
          <a:prstGeom xmlns:a="http://schemas.openxmlformats.org/drawingml/2006/main" prst="rect">
            <a:avLst/>
          </a:prstGeom>
          <a:solidFill xmlns:a="http://schemas.openxmlformats.org/drawingml/2006/main">
            <a:srgbClr val="57068C"/>
          </a:solidFill>
        </p:spPr>
      </p:sp>
      <p:sp>
        <p:nvSpPr>
          <p:cNvPr id="13" name="Text 11">
            <a:extLst xmlns:a="http://schemas.openxmlformats.org/drawingml/2006/main">
              <a:ext uri="{FF2B5EF4-FFF2-40B4-BE49-F238E27FC236}">
                <a16:creationId xmlns:a16="http://schemas.microsoft.com/office/drawing/2014/main" id="{A7A16093-D5D6-4643-BB7D-45E6505AEEB9}"/>
              </a:ext>
            </a:extLst>
          </p:cNvPr>
          <p:cNvSpPr>
            <a:spLocks xmlns:a="http://schemas.openxmlformats.org/drawingml/2006/main" noGrp="1"/>
          </p:cNvSpPr>
          <p:nvPr/>
        </p:nvSpPr>
        <p:spPr>
          <a:xfrm xmlns:a="http://schemas.openxmlformats.org/drawingml/2006/main">
            <a:off x="8778240" y="2468880"/>
            <a:ext cx="2743200" cy="265176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gn="l">
              <a:lnSpc>
                <a:spcPct val="105000"/>
              </a:lnSpc>
              <a:buNone/>
              <a:defRPr sz="1500">
                <a:solidFill>
                  <a:srgbClr val="505050"/>
                </a:solidFill>
                <a:latin typeface="Arial"/>
                <a:ea typeface="Arial"/>
                <a:cs typeface="Arial"/>
              </a:defRPr>
            </a:pPr>
            <a:r>
              <a:rPr sz="1500" b="1" spc="100">
                <a:solidFill>
                  <a:srgbClr val="505050"/>
                </a:solidFill>
                <a:latin typeface="Arial"/>
                <a:ea typeface="Arial"/>
                <a:cs typeface="Arial"/>
              </a:rPr>
              <a:t>ACTUAL MAKE RUN</a:t>
            </a:r>
            <a:endParaRPr sz="1200"/>
          </a:p>
        </p:txBody>
      </p:sp>
      <p:sp>
        <p:nvSpPr>
          <p:cNvPr id="14" name="Text 12">
            <a:extLst xmlns:a="http://schemas.openxmlformats.org/drawingml/2006/main">
              <a:ext uri="{FF2B5EF4-FFF2-40B4-BE49-F238E27FC236}">
                <a16:creationId xmlns:a16="http://schemas.microsoft.com/office/drawing/2014/main" id="{2CEE6E53-1519-48A6-9F7E-2E3E6285DF34}"/>
              </a:ext>
            </a:extLst>
          </p:cNvPr>
          <p:cNvSpPr>
            <a:spLocks xmlns:a="http://schemas.openxmlformats.org/drawingml/2006/main" noGrp="1"/>
          </p:cNvSpPr>
          <p:nvPr/>
        </p:nvSpPr>
        <p:spPr>
          <a:xfrm xmlns:a="http://schemas.openxmlformats.org/drawingml/2006/main">
            <a:off x="457200" y="2286000"/>
            <a:ext cx="7772400" cy="22860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Original rule: four false approvals and one silent drop.</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Current run: two staff reviews and three data reviews.</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Both normal cases approved. Seven orders, seven final decisions.</a:t>
            </a:r>
            <a:endParaRPr sz="1600"/>
          </a:p>
          <a:p xmlns:a="http://schemas.openxmlformats.org/drawingml/2006/main">
            <a:pPr marL="228600" indent="-228600" algn="l">
              <a:lnSpc>
                <a:spcPct val="105000"/>
              </a:lnSpc>
              <a:spcAft>
                <a:spcPts val="800"/>
              </a:spcAft>
              <a:buSzPct val="100000"/>
              <a:buChar char="•"/>
              <a:defRPr sz="1650">
                <a:solidFill>
                  <a:srgbClr val="505050"/>
                </a:solidFill>
                <a:latin typeface="Arial"/>
                <a:ea typeface="Arial"/>
                <a:cs typeface="Arial"/>
              </a:defRPr>
            </a:pPr>
            <a:r>
              <a:rPr sz="1650">
                <a:solidFill>
                  <a:srgbClr val="505050"/>
                </a:solidFill>
                <a:latin typeface="Arial"/>
                <a:ea typeface="Arial"/>
                <a:cs typeface="Arial"/>
              </a:rPr>
              <a:t>30 log rows include repeated tests of the same seven orders.</a:t>
            </a:r>
            <a:endParaRPr sz="1600"/>
          </a:p>
        </p:txBody>
      </p:sp>
      <p:sp>
        <p:nvSpPr>
          <p:cNvPr id="15" name="Shape 13">
            <a:extLst xmlns:a="http://schemas.openxmlformats.org/drawingml/2006/main">
              <a:ext uri="{FF2B5EF4-FFF2-40B4-BE49-F238E27FC236}">
                <a16:creationId xmlns:a16="http://schemas.microsoft.com/office/drawing/2014/main" id="{626D8A60-6B5A-43C5-81B7-7B8440BC8B16}"/>
              </a:ext>
            </a:extLst>
          </p:cNvPr>
          <p:cNvSpPr>
            <a:spLocks xmlns:a="http://schemas.openxmlformats.org/drawingml/2006/main" noGrp="1"/>
          </p:cNvSpPr>
          <p:nvPr/>
        </p:nvSpPr>
        <p:spPr>
          <a:xfrm xmlns:a="http://schemas.openxmlformats.org/drawingml/2006/main">
            <a:off x="457200" y="4709160"/>
            <a:ext cx="7772400" cy="841248"/>
          </a:xfrm>
          <a:prstGeom xmlns:a="http://schemas.openxmlformats.org/drawingml/2006/main" prst="roundRect">
            <a:avLst>
              <a:gd name="adj" fmla="val 6522"/>
            </a:avLst>
          </a:prstGeom>
          <a:solidFill xmlns:a="http://schemas.openxmlformats.org/drawingml/2006/main">
            <a:srgbClr val="F3ECF9"/>
          </a:solidFill>
          <a:ln xmlns:a="http://schemas.openxmlformats.org/drawingml/2006/main" w="9525">
            <a:solidFill>
              <a:srgbClr val="9A6ABA"/>
            </a:solidFill>
            <a:prstDash val="solid"/>
          </a:ln>
        </p:spPr>
      </p:sp>
      <p:sp>
        <p:nvSpPr>
          <p:cNvPr id="16" name="Shape 14">
            <a:extLst xmlns:a="http://schemas.openxmlformats.org/drawingml/2006/main">
              <a:ext uri="{FF2B5EF4-FFF2-40B4-BE49-F238E27FC236}">
                <a16:creationId xmlns:a16="http://schemas.microsoft.com/office/drawing/2014/main" id="{1CBCC870-0427-40CA-9013-F55CF66F3C4C}"/>
              </a:ext>
            </a:extLst>
          </p:cNvPr>
          <p:cNvSpPr>
            <a:spLocks xmlns:a="http://schemas.openxmlformats.org/drawingml/2006/main" noGrp="1"/>
          </p:cNvSpPr>
          <p:nvPr/>
        </p:nvSpPr>
        <p:spPr>
          <a:xfrm xmlns:a="http://schemas.openxmlformats.org/drawingml/2006/main">
            <a:off x="457200" y="4709160"/>
            <a:ext cx="64008" cy="841248"/>
          </a:xfrm>
          <a:prstGeom xmlns:a="http://schemas.openxmlformats.org/drawingml/2006/main" prst="rect">
            <a:avLst/>
          </a:prstGeom>
          <a:solidFill xmlns:a="http://schemas.openxmlformats.org/drawingml/2006/main">
            <a:srgbClr val="6B2FA0"/>
          </a:solidFill>
        </p:spPr>
      </p:sp>
      <p:sp>
        <p:nvSpPr>
          <p:cNvPr id="17" name="Text 15">
            <a:extLst xmlns:a="http://schemas.openxmlformats.org/drawingml/2006/main">
              <a:ext uri="{FF2B5EF4-FFF2-40B4-BE49-F238E27FC236}">
                <a16:creationId xmlns:a16="http://schemas.microsoft.com/office/drawing/2014/main" id="{24DD2798-1A8A-491F-AE4D-23F08296F173}"/>
              </a:ext>
            </a:extLst>
          </p:cNvPr>
          <p:cNvSpPr>
            <a:spLocks xmlns:a="http://schemas.openxmlformats.org/drawingml/2006/main" noGrp="1"/>
          </p:cNvSpPr>
          <p:nvPr/>
        </p:nvSpPr>
        <p:spPr>
          <a:xfrm xmlns:a="http://schemas.openxmlformats.org/drawingml/2006/main">
            <a:off x="658368" y="4764024"/>
            <a:ext cx="7406640" cy="73152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lnSpc>
                <a:spcPct val="100000"/>
              </a:lnSpc>
              <a:buNone/>
              <a:defRPr sz="1425">
                <a:solidFill>
                  <a:srgbClr val="505050"/>
                </a:solidFill>
                <a:latin typeface="Arial"/>
                <a:ea typeface="Arial"/>
                <a:cs typeface="Arial"/>
              </a:defRPr>
            </a:pPr>
            <a:r>
              <a:rPr sz="1425" b="1" spc="100">
                <a:solidFill>
                  <a:srgbClr val="505050"/>
                </a:solidFill>
                <a:latin typeface="Arial"/>
                <a:ea typeface="Arial"/>
                <a:cs typeface="Arial"/>
              </a:rPr>
              <a:t>Illustrative ROI: $726 baseline minus $616 labor and $24 upkeep = $86/month capacity value. $96 build; 1.12-month payback.</a:t>
            </a:r>
            <a:endParaRPr sz="1100"/>
          </a:p>
        </p:txBody>
      </p:sp>
      <p:sp>
        <p:nvSpPr>
          <p:cNvPr id="18" name="Text 16">
            <a:extLst xmlns:a="http://schemas.openxmlformats.org/drawingml/2006/main">
              <a:ext uri="{FF2B5EF4-FFF2-40B4-BE49-F238E27FC236}">
                <a16:creationId xmlns:a16="http://schemas.microsoft.com/office/drawing/2014/main" id="{72BF7946-DFDD-47C1-99C1-A8B5C16FDFAF}"/>
              </a:ext>
            </a:extLst>
          </p:cNvPr>
          <p:cNvSpPr>
            <a:spLocks xmlns:a="http://schemas.openxmlformats.org/drawingml/2006/main" noGrp="1"/>
          </p:cNvSpPr>
          <p:nvPr/>
        </p:nvSpPr>
        <p:spPr>
          <a:xfrm xmlns:a="http://schemas.openxmlformats.org/drawingml/2006/main">
            <a:off x="457200" y="5623560"/>
            <a:ext cx="777240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125">
                <a:solidFill>
                  <a:srgbClr val="505050"/>
                </a:solidFill>
                <a:latin typeface="Arial"/>
                <a:ea typeface="Arial"/>
                <a:cs typeface="Arial"/>
              </a:defRPr>
            </a:pPr>
            <a:r>
              <a:rPr sz="1125" i="1">
                <a:solidFill>
                  <a:srgbClr val="505050"/>
                </a:solidFill>
                <a:latin typeface="Arial"/>
                <a:ea typeface="Arial"/>
                <a:cs typeface="Arial"/>
              </a:rPr>
              <a:t>ROI inputs unmeasured. Guarded routing passed seven sandbox cases; production controls remain incomplete.</a:t>
            </a:r>
            <a:endParaRPr sz="1100"/>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fd7301a504b4e1f"/>
          <a:stretch xmlns:a="http://schemas.openxmlformats.org/drawingml/2006/main"/>
        </p:blipFill>
        <p:spPr>
          <a:xfrm xmlns:a="http://schemas.openxmlformats.org/drawingml/2006/main">
            <a:off x="9427046" y="2905125"/>
            <a:ext cx="1415108" cy="1809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4270963-A8F1-48AC-A912-C0B27DAA514B}"/>
              </a:ext>
            </a:extLst>
          </p:cNvPr>
          <p:cNvSpPr>
            <a:spLocks xmlns:a="http://schemas.openxmlformats.org/drawingml/2006/main" noGrp="1"/>
          </p:cNvSpPr>
          <p:nvPr/>
        </p:nvSpPr>
        <p:spPr>
          <a:xfrm xmlns:a="http://schemas.openxmlformats.org/drawingml/2006/main">
            <a:off x="8782050" y="4810125"/>
            <a:ext cx="2743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a:solidFill>
                  <a:srgbClr val="505050"/>
                </a:solidFill>
                <a:latin typeface="Arial"/>
                <a:ea typeface="Arial"/>
                <a:cs typeface="Arial"/>
              </a:defRPr>
            </a:pPr>
            <a:r>
              <a:rPr sz="1275">
                <a:solidFill>
                  <a:srgbClr val="505050"/>
                </a:solidFill>
                <a:latin typeface="Arial"/>
                <a:ea typeface="Arial"/>
                <a:cs typeface="Arial"/>
              </a:rPr>
              <a:t>2 approvals / 2 staff / 3 data reviews.</a:t>
            </a:r>
          </a:p>
        </p:txBody>
      </p:sp>
    </p:spTree>
    <p:extLst>
      <p:ext uri="{BB962C8B-B14F-4D97-AF65-F5344CB8AC3E}">
        <p14:creationId xmlns:p14="http://schemas.microsoft.com/office/powerpoint/2010/main" val="75882625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2026-10-06T22:57:25.2350000Z</dcterms:created>
  <dcterms:modified xsi:type="dcterms:W3CDTF">2026-10-06T22:57:25.2350000Z</dcterms:modified>
</coreProperties>
</file>